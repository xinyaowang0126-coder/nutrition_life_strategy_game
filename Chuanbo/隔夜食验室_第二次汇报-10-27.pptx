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6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7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8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9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10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15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notesSlides/notesSlide25.xml" ContentType="application/vnd.openxmlformats-officedocument.presentationml.notesSlid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73" r:id="rId26"/>
    <p:sldId id="274" r:id="rId27"/>
    <p:sldId id="287" r:id="rId28"/>
    <p:sldId id="288" r:id="rId29"/>
    <p:sldId id="286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1F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刚才的视频展示了风险为什么形成，以及饭菜应该怎样处理。回到家庭用餐时，还会遇到一个具体问题：如果由自己来安排下一餐，应该怎样判断留下的饭菜。</a:t>
            </a:r>
          </a:p>
          <a:p>
            <a:endParaRPr/>
          </a:p>
          <a:p>
            <a:r>
              <a:t>第一次汇报提出用视频和游戏相互补充。接下来，我们从观看讲解进入可操作的游戏情境，看看玩家怎样作出选择，再根据结果调整安排。</a:t>
            </a:r>
          </a:p>
          <a:p>
            <a:endParaRPr/>
          </a:p>
          <a:p>
            <a:r>
              <a:t>资料与图片来源：承接第一次汇报第17—18页的视频与游戏媒介分工及反馈调节思路。此页用于讲述衔接，不提出已验证的学习效果。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30443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这款游戏叫《好好吃饭》，这里展示的是周阿姨篇，故事名为《自己的舞台》。周阿姨希望在周日参加社区合唱汇演，唱完自己喜欢的歌。</a:t>
            </a:r>
          </a:p>
          <a:p>
            <a:endParaRPr/>
          </a:p>
          <a:p>
            <a:r>
              <a:t>玩家围绕这个生活目标安排三餐、备餐、休息和排练。剩菜处理会在这些日常安排中出现，接下来的截图就沿着一顿饭的准备、保存和下一次取用展开。</a:t>
            </a:r>
          </a:p>
          <a:p>
            <a:endParaRPr/>
          </a:p>
          <a:p>
            <a:r>
              <a:t>资料与图片来源：游戏真实故事选择页中的《自己的舞台》简介。故事目标及条件来自当前 StoryCatalog 与 stories.xml。截图采用内存后端，不更改玩家存档。</a:t>
            </a:r>
          </a:p>
          <a:p>
            <a:r>
              <a:t>截图：E:\nutrition_life_strategy_game\docs\assets\chuanbo-game-transition-2026-10-27\01-choir-story-introduction.png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47652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认识周阿姨之后，再看她怎样安排一天的生活。练歌、休息和采购都要放进当天的安排，玩家还需要考虑现有食材和精力。</a:t>
            </a:r>
          </a:p>
          <a:p>
            <a:endParaRPr/>
          </a:p>
          <a:p>
            <a:r>
              <a:t>这张画面是早餐后的安排。玩家可以练歌、休息或购买小份食材，需要在现有精力和当天的安排格中作取舍。只做当餐或提前备餐，都可以是合理的选择。游戏把剩菜处理放进这些生活需要里，重点是让玩家考虑留存份怎样保存，以及它能否支持后续安排。</a:t>
            </a:r>
          </a:p>
          <a:p>
            <a:endParaRPr/>
          </a:p>
          <a:p>
            <a:r>
              <a:t>资料与图片来源：第一次汇报第3、10—11页：尊重生活经验和节约动机。第21页：周阿姨围绕社区合唱汇演安排生活。截图为独立展示局首日早餐后的真实行动选择，未更改玩家存档。</a:t>
            </a:r>
          </a:p>
          <a:p>
            <a:r>
              <a:t>截图：E:\nutrition_life_strategy_game\docs\assets\chuanbo-game-feedback-2026-10-27\01-life-and-rehearsal.png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51088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做饭时，玩家会面对只做当餐、另备一份冷藏和留在灶台三种选择。它们会产生不同的后续结果：是否留下熟食，以及留下的饭菜到下一餐还能不能使用。</a:t>
            </a:r>
          </a:p>
          <a:p>
            <a:endParaRPr/>
          </a:p>
          <a:p>
            <a:r>
              <a:t>选择另备冷藏后，界面同步列出增加的食材，并提示上桌前分装、及时冷藏和下次食用前再热。选择灶台留存，也会在当下说明相应风险。我们把判断所需的信息放在选择旁，让玩家在决定这一餐时，就能考虑下一餐。画面中的一小时是本关采用的具体演练条件，所参考的食安资料强调尽快分装冷却并在两小时内冷藏。</a:t>
            </a:r>
          </a:p>
          <a:p>
            <a:endParaRPr/>
          </a:p>
          <a:p>
            <a:r>
              <a:t>资料与图片来源：第一次汇报第18、23页：生活决策、资源约束及选择后的系统反馈。当前游戏 CookingPlanStage.gd 和 KitchenStock.gd 的三个留存分支。科普依据：https://www.cfs.gov.hk/sc_chi/consumer_zone/safefood_all/five_keys_apply_leftovers.html 。1小时是关卡情境，不替代资料中的一般处理建议。</a:t>
            </a:r>
          </a:p>
          <a:p>
            <a:r>
              <a:t>截图：E:\nutrition_life_strategy_game\docs\assets\choir-leftovers-showcase-2026-10-27\02-cook-save-one-cold.png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97777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第一次汇报的保存提示已经包含两个环节：查看历史，以及限制不合规熟食进入餐盘。现在，玩家可以在库存里查看一份饭菜经历了怎样的保存过程，再看到它对应的可用状态。</a:t>
            </a:r>
          </a:p>
          <a:p>
            <a:endParaRPr/>
          </a:p>
          <a:p>
            <a:r>
              <a:t>画面是选择灶台留存后的午餐。系统显示已经过五小时、未保持安全温度，因此米饭和菜都进入待处理。及时分装冷藏的批次则进入待再热。这样的反馈给出了原因，也给出了操作边界，引导玩家依据保存经历作判断，回应仅凭是否隔夜或气味外观来决定能不能吃的简单认识。</a:t>
            </a:r>
          </a:p>
          <a:p>
            <a:endParaRPr/>
          </a:p>
          <a:p>
            <a:r>
              <a:t>资料与图片来源：第一次汇报第22页：查看历史、系统限制、玩家处置及继续安排。当前游戏 KitchenStock.classify、available 和 KitchenStockStage.gd。科普依据：https://www.cfs.gov.hk/sc_chi/consumer_zone/safefood_all/five_keys_apply_leftovers.html 。截图为本关5小时灶台留存的后续结果。</a:t>
            </a:r>
          </a:p>
          <a:p>
            <a:r>
              <a:t>截图：E:\nutrition_life_strategy_game\docs\assets\choir-leftovers-showcase-2026-10-27\07-counter-leftovers-need-discard.png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133844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有了这些反馈，玩家还需要作下一步选择。妥善留存的米饭和菜，可以在下一餐按需要取用，并在开饭前完成彻底再热。保存不当的批次则需要丢弃，再重新选择这一餐的食物，或者安排制作。</a:t>
            </a:r>
          </a:p>
          <a:p>
            <a:endParaRPr/>
          </a:p>
          <a:p>
            <a:r>
              <a:t>前面的保存决定会改变现在能用的食物，也影响后续怎样安排食材和精力。这样就把第一次提出的选择、系统反馈和调整行动连接起来。我们展示的是玩家能够观察和调整的机会，是否真正学会并应用到现实生活，还需要后续试用来检验。</a:t>
            </a:r>
          </a:p>
          <a:p>
            <a:endParaRPr/>
          </a:p>
          <a:p>
            <a:r>
              <a:t>资料与图片来源：第一次汇报第17—18、22—23页：行动选择、系统反馈、调整行动，以及反馈不能直接等同科普效果。当前游戏 HouseholdMealStage.gd、KitchenStock.consume 与 discard。科普依据：https://www.cfs.gov.hk/sc_chi/consumer_zone/packed_meals.html 。再热温度等具体条件见本关科普参考。</a:t>
            </a:r>
          </a:p>
          <a:p>
            <a:r>
              <a:t>截图：E:\nutrition_life_strategy_game\docs\assets\choir-leftovers-showcase-2026-10-27\05-reheat-and-eat.png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41949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这种反馈还会随着日期推进继续变化。这份米饭和菜在第一天留存，一直没有取用，到了第五天，系统就将它们标为超过本关冷藏时限、需要丢弃。</a:t>
            </a:r>
          </a:p>
          <a:p>
            <a:endParaRPr/>
          </a:p>
          <a:p>
            <a:r>
              <a:t>因此，玩家要在不同餐次和日期继续查看库存，及时安排食用或处理。剩菜处理也就从一次性的选项，延伸为持续的生活安排。这是第一次游戏构想目前落实到原型中的部分。接下来，我们回到整体作品的优势、不足和后续评价。</a:t>
            </a:r>
          </a:p>
          <a:p>
            <a:endParaRPr/>
          </a:p>
          <a:p>
            <a:r>
              <a:t>资料与图片来源：第一次汇报第23页：根据结算与阶段总结调整后续安排。当前游戏 KitchenStock.refresh 的跨日保存判定，截图从第1天正常推进到第5天。科普依据：https://www.cfs.gov.hk/sc_chi/consumer_zone/safefood_all/five_keys_apply_leftovers.html 。超过3天为本关采用的超时说明，不表示期限内任何条件下都安全。</a:t>
            </a:r>
          </a:p>
          <a:p>
            <a:r>
              <a:t>截图：E:\nutrition_life_strategy_game\docs\assets\choir-leftovers-showcase-2026-10-27\10-cold-storage-time-limit.png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903442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5071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1.png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tags" Target="../tags/tag24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5" Type="http://schemas.openxmlformats.org/officeDocument/2006/relationships/tags" Target="../tags/tag17.xml"/><Relationship Id="rId15" Type="http://schemas.openxmlformats.org/officeDocument/2006/relationships/image" Target="../media/image1.png"/><Relationship Id="rId10" Type="http://schemas.openxmlformats.org/officeDocument/2006/relationships/tags" Target="../tags/tag22.xml"/><Relationship Id="rId4" Type="http://schemas.openxmlformats.org/officeDocument/2006/relationships/tags" Target="../tags/tag16.xml"/><Relationship Id="rId9" Type="http://schemas.openxmlformats.org/officeDocument/2006/relationships/tags" Target="../tags/tag2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image" Target="../media/image1.png"/><Relationship Id="rId5" Type="http://schemas.openxmlformats.org/officeDocument/2006/relationships/tags" Target="../tags/tag29.xml"/><Relationship Id="rId10" Type="http://schemas.openxmlformats.org/officeDocument/2006/relationships/notesSlide" Target="../notesSlides/notesSlide7.xml"/><Relationship Id="rId4" Type="http://schemas.openxmlformats.org/officeDocument/2006/relationships/tags" Target="../tags/tag28.xml"/><Relationship Id="rId9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image" Target="../media/image1.png"/><Relationship Id="rId5" Type="http://schemas.openxmlformats.org/officeDocument/2006/relationships/tags" Target="../tags/tag37.xml"/><Relationship Id="rId10" Type="http://schemas.openxmlformats.org/officeDocument/2006/relationships/notesSlide" Target="../notesSlides/notesSlide8.xml"/><Relationship Id="rId4" Type="http://schemas.openxmlformats.org/officeDocument/2006/relationships/tags" Target="../tags/tag36.xml"/><Relationship Id="rId9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image" Target="../media/image1.png"/><Relationship Id="rId5" Type="http://schemas.openxmlformats.org/officeDocument/2006/relationships/tags" Target="../tags/tag45.xml"/><Relationship Id="rId10" Type="http://schemas.openxmlformats.org/officeDocument/2006/relationships/notesSlide" Target="../notesSlides/notesSlide9.xml"/><Relationship Id="rId4" Type="http://schemas.openxmlformats.org/officeDocument/2006/relationships/tags" Target="../tags/tag44.xml"/><Relationship Id="rId9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12" Type="http://schemas.openxmlformats.org/officeDocument/2006/relationships/image" Target="../media/image1.png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notesSlide" Target="../notesSlides/notesSlide10.xml"/><Relationship Id="rId5" Type="http://schemas.openxmlformats.org/officeDocument/2006/relationships/tags" Target="../tags/tag53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52.xml"/><Relationship Id="rId9" Type="http://schemas.openxmlformats.org/officeDocument/2006/relationships/tags" Target="../tags/tag5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tags" Target="../tags/tag70.xml"/><Relationship Id="rId18" Type="http://schemas.openxmlformats.org/officeDocument/2006/relationships/image" Target="../media/image1.png"/><Relationship Id="rId3" Type="http://schemas.openxmlformats.org/officeDocument/2006/relationships/tags" Target="../tags/tag60.xml"/><Relationship Id="rId7" Type="http://schemas.openxmlformats.org/officeDocument/2006/relationships/tags" Target="../tags/tag64.xml"/><Relationship Id="rId12" Type="http://schemas.openxmlformats.org/officeDocument/2006/relationships/tags" Target="../tags/tag69.xml"/><Relationship Id="rId17" Type="http://schemas.openxmlformats.org/officeDocument/2006/relationships/notesSlide" Target="../notesSlides/notesSlide11.xml"/><Relationship Id="rId2" Type="http://schemas.openxmlformats.org/officeDocument/2006/relationships/tags" Target="../tags/tag59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tags" Target="../tags/tag68.xml"/><Relationship Id="rId5" Type="http://schemas.openxmlformats.org/officeDocument/2006/relationships/tags" Target="../tags/tag62.xml"/><Relationship Id="rId15" Type="http://schemas.openxmlformats.org/officeDocument/2006/relationships/tags" Target="../tags/tag72.xml"/><Relationship Id="rId10" Type="http://schemas.openxmlformats.org/officeDocument/2006/relationships/tags" Target="../tags/tag67.xml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tags" Target="../tags/tag7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image" Target="../media/image1.png"/><Relationship Id="rId5" Type="http://schemas.openxmlformats.org/officeDocument/2006/relationships/tags" Target="../tags/tag77.xml"/><Relationship Id="rId10" Type="http://schemas.openxmlformats.org/officeDocument/2006/relationships/notesSlide" Target="../notesSlides/notesSlide13.xml"/><Relationship Id="rId4" Type="http://schemas.openxmlformats.org/officeDocument/2006/relationships/tags" Target="../tags/tag76.xml"/><Relationship Id="rId9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3" Type="http://schemas.openxmlformats.org/officeDocument/2006/relationships/tags" Target="../tags/tag83.xml"/><Relationship Id="rId7" Type="http://schemas.openxmlformats.org/officeDocument/2006/relationships/tags" Target="../tags/tag87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image" Target="../media/image1.png"/><Relationship Id="rId5" Type="http://schemas.openxmlformats.org/officeDocument/2006/relationships/tags" Target="../tags/tag85.xml"/><Relationship Id="rId10" Type="http://schemas.openxmlformats.org/officeDocument/2006/relationships/notesSlide" Target="../notesSlides/notesSlide15.xml"/><Relationship Id="rId4" Type="http://schemas.openxmlformats.org/officeDocument/2006/relationships/tags" Target="../tags/tag84.xml"/><Relationship Id="rId9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image" Target="../media/image1.png"/><Relationship Id="rId5" Type="http://schemas.openxmlformats.org/officeDocument/2006/relationships/tags" Target="../tags/tag93.xml"/><Relationship Id="rId10" Type="http://schemas.openxmlformats.org/officeDocument/2006/relationships/notesSlide" Target="../notesSlides/notesSlide16.xml"/><Relationship Id="rId4" Type="http://schemas.openxmlformats.org/officeDocument/2006/relationships/tags" Target="../tags/tag92.xml"/><Relationship Id="rId9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image" Target="../media/image1.png"/><Relationship Id="rId5" Type="http://schemas.openxmlformats.org/officeDocument/2006/relationships/tags" Target="../tags/tag101.xml"/><Relationship Id="rId10" Type="http://schemas.openxmlformats.org/officeDocument/2006/relationships/notesSlide" Target="../notesSlides/notesSlide25.xml"/><Relationship Id="rId4" Type="http://schemas.openxmlformats.org/officeDocument/2006/relationships/tags" Target="../tags/tag100.xml"/><Relationship Id="rId9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107.xml"/><Relationship Id="rId7" Type="http://schemas.openxmlformats.org/officeDocument/2006/relationships/tags" Target="../tags/tag111.xml"/><Relationship Id="rId12" Type="http://schemas.openxmlformats.org/officeDocument/2006/relationships/tags" Target="../tags/tag116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11" Type="http://schemas.openxmlformats.org/officeDocument/2006/relationships/tags" Target="../tags/tag115.xml"/><Relationship Id="rId5" Type="http://schemas.openxmlformats.org/officeDocument/2006/relationships/tags" Target="../tags/tag109.xml"/><Relationship Id="rId15" Type="http://schemas.openxmlformats.org/officeDocument/2006/relationships/image" Target="../media/image1.png"/><Relationship Id="rId10" Type="http://schemas.openxmlformats.org/officeDocument/2006/relationships/tags" Target="../tags/tag114.xml"/><Relationship Id="rId4" Type="http://schemas.openxmlformats.org/officeDocument/2006/relationships/tags" Target="../tags/tag108.xml"/><Relationship Id="rId9" Type="http://schemas.openxmlformats.org/officeDocument/2006/relationships/tags" Target="../tags/tag113.xml"/><Relationship Id="rId1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194560"/>
            <a:ext cx="12191695" cy="20574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240487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隔夜“食”验室</a:t>
            </a:r>
          </a:p>
        </p:txBody>
      </p:sp>
      <p:sp>
        <p:nvSpPr>
          <p:cNvPr id="5" name="Text 2"/>
          <p:cNvSpPr/>
          <p:nvPr/>
        </p:nvSpPr>
        <p:spPr>
          <a:xfrm>
            <a:off x="731520" y="3291840"/>
            <a:ext cx="10698480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从传播方案到AI科普视频初稿</a:t>
            </a:r>
          </a:p>
        </p:txBody>
      </p:sp>
      <p:sp>
        <p:nvSpPr>
          <p:cNvPr id="7" name="Text 4"/>
          <p:cNvSpPr/>
          <p:nvPr/>
        </p:nvSpPr>
        <p:spPr>
          <a:xfrm>
            <a:off x="914400" y="4582795"/>
            <a:ext cx="10332720" cy="166497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三大组</a:t>
            </a:r>
            <a:r>
              <a:rPr lang="en-US" altLang="zh-CN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</a:t>
            </a: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第一小组：</a:t>
            </a:r>
            <a:r>
              <a:rPr 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王歆尧  田伦荣益  李文鹏  李嘉辉</a:t>
            </a:r>
          </a:p>
          <a:p>
            <a:pPr marL="0" indent="0" algn="ctr">
              <a:buNone/>
            </a:pPr>
            <a:br>
              <a:rPr 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</a:br>
            <a:r>
              <a:rPr lang="en-US" sz="2000" b="1" dirty="0">
                <a:solidFill>
                  <a:srgbClr val="262626"/>
                </a:solidFill>
                <a:latin typeface="Times New Roman" panose="02020603050405020304" pitchFamily="34" charset="0"/>
                <a:ea typeface="微软雅黑" panose="020B0503020204020204" pitchFamily="34" charset="-122"/>
                <a:cs typeface="Times New Roman" panose="02020603050405020304" pitchFamily="34" charset="0"/>
              </a:rPr>
              <a:t>2026-10-27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目录：从构想到成片的五个阶段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CONTENTS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1261872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2066544" y="1261872"/>
            <a:ext cx="914400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延续第一次方案，形成完整剧本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057400" y="1901952"/>
            <a:ext cx="8915400" cy="18288"/>
          </a:xfrm>
          <a:prstGeom prst="rect">
            <a:avLst/>
          </a:prstGeom>
          <a:solidFill>
            <a:srgbClr val="E7DAD6"/>
          </a:solidFill>
          <a:ln w="12700">
            <a:solidFill>
              <a:srgbClr val="E7DAD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19456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2066544" y="2194560"/>
            <a:ext cx="914400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剧本设计：问题与三次取舍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2057400" y="2834640"/>
            <a:ext cx="8915400" cy="18288"/>
          </a:xfrm>
          <a:prstGeom prst="rect">
            <a:avLst/>
          </a:prstGeom>
          <a:solidFill>
            <a:srgbClr val="E7DAD6"/>
          </a:solidFill>
          <a:ln w="12700">
            <a:solidFill>
              <a:srgbClr val="E7DA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127248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2066544" y="3127248"/>
            <a:ext cx="914400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AI制作：现实困难与压缩迭代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2057400" y="3767328"/>
            <a:ext cx="8915400" cy="18288"/>
          </a:xfrm>
          <a:prstGeom prst="rect">
            <a:avLst/>
          </a:prstGeom>
          <a:solidFill>
            <a:srgbClr val="E7DAD6"/>
          </a:solidFill>
          <a:ln w="12700">
            <a:solidFill>
              <a:srgbClr val="E7DAD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059936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2066544" y="4059936"/>
            <a:ext cx="914400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初版成果与当前不足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2057400" y="4700016"/>
            <a:ext cx="8915400" cy="18288"/>
          </a:xfrm>
          <a:prstGeom prst="rect">
            <a:avLst/>
          </a:prstGeom>
          <a:solidFill>
            <a:srgbClr val="E7DAD6"/>
          </a:solidFill>
          <a:ln w="12700">
            <a:solidFill>
              <a:srgbClr val="E7DAD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4992624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2066544" y="4992624"/>
            <a:ext cx="914400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实习思考提纲：全过程复盘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2057400" y="5632704"/>
            <a:ext cx="8915400" cy="18288"/>
          </a:xfrm>
          <a:prstGeom prst="rect">
            <a:avLst/>
          </a:prstGeom>
          <a:solidFill>
            <a:srgbClr val="E7DAD6"/>
          </a:solidFill>
          <a:ln w="12700">
            <a:solidFill>
              <a:srgbClr val="E7DAD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第一次汇报留下的核心方案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定位与受众</a:t>
            </a:r>
          </a:p>
        </p:txBody>
      </p:sp>
      <p:sp>
        <p:nvSpPr>
          <p:cNvPr id="11" name="Text 8"/>
          <p:cNvSpPr/>
          <p:nvPr/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面向45岁及以上家庭食品处理者，也兼顾年轻家庭成员。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不否定节约观念，关注时间、温度、保存与处理条件。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传播目标与形式</a:t>
            </a:r>
          </a:p>
        </p:txBody>
      </p:sp>
      <p:sp>
        <p:nvSpPr>
          <p:cNvPr id="15" name="Text 12"/>
          <p:cNvSpPr/>
          <p:nvPr/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纠正“隔夜必然有害”和“加热必然安全”的简单判断。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原定形式：家庭情境 → 微观解释 → 现实处理。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剧本设计的第一步：先把传播目标变成故事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6400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6400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8412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主人公</a:t>
            </a: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8412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周阿姨：重视节约，有生活经验的家庭食品处理者。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小林：关心母亲，善于提问的年轻家人。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45262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45262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47274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核心冲突</a:t>
            </a:r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47274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一盘室温放了一夜的饭菜，究竟还能不能吃？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争议集中于保存条件，不是代际对立。</a:t>
            </a:r>
            <a:endParaRPr lang="en-US" sz="2000" dirty="0"/>
          </a:p>
        </p:txBody>
      </p:sp>
      <p:sp>
        <p:nvSpPr>
          <p:cNvPr id="16" name="Shape 13"/>
          <p:cNvSpPr/>
          <p:nvPr>
            <p:custDataLst>
              <p:tags r:id="rId9"/>
            </p:custDataLst>
          </p:nvPr>
        </p:nvSpPr>
        <p:spPr>
          <a:xfrm>
            <a:off x="84124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7" name="Shape 14"/>
          <p:cNvSpPr/>
          <p:nvPr>
            <p:custDataLst>
              <p:tags r:id="rId10"/>
            </p:custDataLst>
          </p:nvPr>
        </p:nvSpPr>
        <p:spPr>
          <a:xfrm>
            <a:off x="84124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8" name="Text 15"/>
          <p:cNvSpPr/>
          <p:nvPr>
            <p:custDataLst>
              <p:tags r:id="rId11"/>
            </p:custDataLst>
          </p:nvPr>
        </p:nvSpPr>
        <p:spPr>
          <a:xfrm>
            <a:off x="86136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转变过程</a:t>
            </a:r>
          </a:p>
        </p:txBody>
      </p:sp>
      <p:sp>
        <p:nvSpPr>
          <p:cNvPr id="19" name="Text 16"/>
          <p:cNvSpPr/>
          <p:nvPr>
            <p:custDataLst>
              <p:tags r:id="rId12"/>
            </p:custDataLst>
          </p:nvPr>
        </p:nvSpPr>
        <p:spPr>
          <a:xfrm>
            <a:off x="86136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家庭提出疑问 → 进入“食”验室寻找解释 → 返回现实做出处理选择。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原剧本：160秒，家庭—实验—行动完整闭环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01 / 剧本结构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1856232"/>
            <a:ext cx="2296287" cy="749808"/>
          </a:xfrm>
          <a:prstGeom prst="rect">
            <a:avLst/>
          </a:prstGeom>
          <a:solidFill>
            <a:srgbClr val="C18D75"/>
          </a:solidFill>
          <a:ln w="12700">
            <a:solidFill>
              <a:srgbClr val="C18D7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19247" y="1856232"/>
            <a:ext cx="656082" cy="749808"/>
          </a:xfrm>
          <a:prstGeom prst="rect">
            <a:avLst/>
          </a:prstGeom>
          <a:solidFill>
            <a:srgbClr val="D5AB71"/>
          </a:solidFill>
          <a:ln w="12700">
            <a:solidFill>
              <a:srgbClr val="D5AB7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75329" y="1856232"/>
            <a:ext cx="4592574" cy="749808"/>
          </a:xfrm>
          <a:prstGeom prst="rect">
            <a:avLst/>
          </a:prstGeom>
          <a:solidFill>
            <a:srgbClr val="698DAB"/>
          </a:solidFill>
          <a:ln w="12700">
            <a:solidFill>
              <a:srgbClr val="698DA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367903" y="1856232"/>
            <a:ext cx="2296287" cy="749808"/>
          </a:xfrm>
          <a:prstGeom prst="rect">
            <a:avLst/>
          </a:prstGeom>
          <a:solidFill>
            <a:srgbClr val="83A28E"/>
          </a:solidFill>
          <a:ln w="12700">
            <a:solidFill>
              <a:srgbClr val="83A28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64190" y="1856232"/>
            <a:ext cx="656082" cy="749808"/>
          </a:xfrm>
          <a:prstGeom prst="rect">
            <a:avLst/>
          </a:prstGeom>
          <a:solidFill>
            <a:srgbClr val="BC7480"/>
          </a:solidFill>
          <a:ln w="12700">
            <a:solidFill>
              <a:srgbClr val="BC74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944368"/>
            <a:ext cx="502920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家庭疑问  35秒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382512" y="2944368"/>
            <a:ext cx="502920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微观转场  10秒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96112" y="3712464"/>
            <a:ext cx="502920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科学实验  70秒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382512" y="3712464"/>
            <a:ext cx="502920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现实处理  35秒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96112" y="4480560"/>
            <a:ext cx="502920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结尾  10秒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77824" y="5650992"/>
            <a:ext cx="1051560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计划包含30个分镜，科普部分安排三项实验。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剧本的三项科学实验：各承担什么任务？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01 / 科普内容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6400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6400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8412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实验一：时间</a:t>
            </a: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8412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回应“过了一夜就危险吗？”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解释熟食室温久放时部分微生物可能繁殖，强调放置时间。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45262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45262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47274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实验二：温度</a:t>
            </a:r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47274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对比常温与及时冷藏。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冷藏可减缓繁殖，不等于灭菌，也不是无限期保存。</a:t>
            </a:r>
            <a:endParaRPr lang="en-US" sz="2000" dirty="0"/>
          </a:p>
        </p:txBody>
      </p:sp>
      <p:sp>
        <p:nvSpPr>
          <p:cNvPr id="16" name="Shape 13"/>
          <p:cNvSpPr/>
          <p:nvPr>
            <p:custDataLst>
              <p:tags r:id="rId9"/>
            </p:custDataLst>
          </p:nvPr>
        </p:nvSpPr>
        <p:spPr>
          <a:xfrm>
            <a:off x="84124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7" name="Shape 14"/>
          <p:cNvSpPr/>
          <p:nvPr>
            <p:custDataLst>
              <p:tags r:id="rId10"/>
            </p:custDataLst>
          </p:nvPr>
        </p:nvSpPr>
        <p:spPr>
          <a:xfrm>
            <a:off x="84124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8" name="Text 15"/>
          <p:cNvSpPr/>
          <p:nvPr>
            <p:custDataLst>
              <p:tags r:id="rId11"/>
            </p:custDataLst>
          </p:nvPr>
        </p:nvSpPr>
        <p:spPr>
          <a:xfrm>
            <a:off x="86136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实验三：复热</a:t>
            </a:r>
          </a:p>
        </p:txBody>
      </p:sp>
      <p:sp>
        <p:nvSpPr>
          <p:cNvPr id="19" name="Text 16"/>
          <p:cNvSpPr/>
          <p:nvPr>
            <p:custDataLst>
              <p:tags r:id="rId12"/>
            </p:custDataLst>
          </p:nvPr>
        </p:nvSpPr>
        <p:spPr>
          <a:xfrm>
            <a:off x="86136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回应“热透就一定安全吗？”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解释充分复热的作用及部分耐热毒素的局限。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</a:t>
            </a: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取舍</a:t>
            </a: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一：如何有戏剧性，却不制造说教？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07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 / 剧本取舍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最初的张力</a:t>
            </a: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母女在“省下饭菜”与“注意食品安全”之间存在分歧。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若靠争吵和责备制造冲突，可能把核心受众放在错误一方。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最终的处理</a:t>
            </a:r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小林先询问保存经历，不直接批评。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周阿姨通过解释主动判断，节约观念被尊重，改变的是处理方式。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</a:t>
            </a: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取舍</a:t>
            </a: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二：如何兼顾短剧节奏与科普深度？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08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 / 剧本取舍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创作中发现的问题</a:t>
            </a: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如果实验室只是一段视觉转场，观众只会看到微生物特效。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如果一次灌输过多术语，又可能影响中老年人的理解。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原剧本的解决方式</a:t>
            </a:r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原设70秒科学解释，分为时间、温度、复热三层。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每段先提问、再示意、最后给出可理解的结论。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</a:t>
            </a: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取舍</a:t>
            </a: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三：温馨结局不能牺牲科学性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09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 / 剧本取舍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剧情逻辑的风险</a:t>
            </a: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如果开头饭菜室温放了一夜，结尾却加热后继续吃，会直接削弱此前科普。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观众容易误以为“热一下就能补救”。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采取的解决办法</a:t>
            </a:r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周阿姨决定丢弃保存明显不当的饭菜。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再切到当天新做饭菜分装冷藏，次日确认保存妥当后复热。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剧本取舍总结：三个矛盾，三条原则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 / 方法论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685800" y="1389888"/>
            <a:ext cx="107899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4D7D3"/>
            </a:solidFill>
            <a:prstDash val="solid"/>
          </a:ln>
        </p:spPr>
      </p:sp>
      <p:sp>
        <p:nvSpPr>
          <p:cNvPr id="9" name="Text 6"/>
          <p:cNvSpPr/>
          <p:nvPr>
            <p:custDataLst>
              <p:tags r:id="rId2"/>
            </p:custDataLst>
          </p:nvPr>
        </p:nvSpPr>
        <p:spPr>
          <a:xfrm>
            <a:off x="914400" y="1508760"/>
            <a:ext cx="338328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冲突与共情</a:t>
            </a:r>
            <a:endParaRPr lang="en-US" sz="2000" dirty="0"/>
          </a:p>
        </p:txBody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4187952" y="1499616"/>
            <a:ext cx="6903720" cy="1219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用家庭疑问替代指责性争吵：先承认节约动机，再引导判断。</a:t>
            </a:r>
          </a:p>
        </p:txBody>
      </p:sp>
      <p:sp>
        <p:nvSpPr>
          <p:cNvPr id="11" name="Shape 8"/>
          <p:cNvSpPr/>
          <p:nvPr>
            <p:custDataLst>
              <p:tags r:id="rId4"/>
            </p:custDataLst>
          </p:nvPr>
        </p:nvSpPr>
        <p:spPr>
          <a:xfrm>
            <a:off x="685800" y="2898648"/>
            <a:ext cx="107899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4D7D3"/>
            </a:solidFill>
            <a:prstDash val="solid"/>
          </a:ln>
        </p:spPr>
      </p:sp>
      <p:sp>
        <p:nvSpPr>
          <p:cNvPr id="12" name="Text 9"/>
          <p:cNvSpPr/>
          <p:nvPr>
            <p:custDataLst>
              <p:tags r:id="rId5"/>
            </p:custDataLst>
          </p:nvPr>
        </p:nvSpPr>
        <p:spPr>
          <a:xfrm>
            <a:off x="914400" y="3017520"/>
            <a:ext cx="338328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节奏与解释</a:t>
            </a:r>
            <a:endParaRPr lang="en-US" sz="2000" dirty="0"/>
          </a:p>
        </p:txBody>
      </p:sp>
      <p:sp>
        <p:nvSpPr>
          <p:cNvPr id="13" name="Text 10"/>
          <p:cNvSpPr/>
          <p:nvPr>
            <p:custDataLst>
              <p:tags r:id="rId6"/>
            </p:custDataLst>
          </p:nvPr>
        </p:nvSpPr>
        <p:spPr>
          <a:xfrm>
            <a:off x="4187952" y="3008376"/>
            <a:ext cx="6903720" cy="1219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先设计足够的科普时间：时间、温度、复热分别说明。</a:t>
            </a:r>
            <a:endParaRPr lang="en-US" sz="2000" dirty="0"/>
          </a:p>
        </p:txBody>
      </p:sp>
      <p:sp>
        <p:nvSpPr>
          <p:cNvPr id="14" name="Shape 11"/>
          <p:cNvSpPr/>
          <p:nvPr>
            <p:custDataLst>
              <p:tags r:id="rId7"/>
            </p:custDataLst>
          </p:nvPr>
        </p:nvSpPr>
        <p:spPr>
          <a:xfrm>
            <a:off x="685800" y="4407408"/>
            <a:ext cx="107899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4D7D3"/>
            </a:solidFill>
            <a:prstDash val="solid"/>
          </a:ln>
        </p:spPr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914400" y="4526280"/>
            <a:ext cx="338328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情节与科学</a:t>
            </a:r>
            <a:endParaRPr lang="en-US" sz="2000" dirty="0"/>
          </a:p>
        </p:txBody>
      </p:sp>
      <p:sp>
        <p:nvSpPr>
          <p:cNvPr id="16" name="Text 13"/>
          <p:cNvSpPr/>
          <p:nvPr>
            <p:custDataLst>
              <p:tags r:id="rId9"/>
            </p:custDataLst>
          </p:nvPr>
        </p:nvSpPr>
        <p:spPr>
          <a:xfrm>
            <a:off x="4187952" y="4517136"/>
            <a:ext cx="6903720" cy="1219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保存不当的食物不再食用，另设场景演示正确操作。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从剧本进入AI制作：实际工作流程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 / 视频制作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576072" y="1508760"/>
            <a:ext cx="2139696" cy="2761488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3D6D2"/>
            </a:solidFill>
            <a:prstDash val="solid"/>
          </a:ln>
        </p:spPr>
      </p:sp>
      <p:sp>
        <p:nvSpPr>
          <p:cNvPr id="9" name="Text 6"/>
          <p:cNvSpPr/>
          <p:nvPr>
            <p:custDataLst>
              <p:tags r:id="rId2"/>
            </p:custDataLst>
          </p:nvPr>
        </p:nvSpPr>
        <p:spPr>
          <a:xfrm>
            <a:off x="704088" y="1728216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文本剧本</a:t>
            </a:r>
            <a:endParaRPr lang="en-US" sz="2000" dirty="0"/>
          </a:p>
        </p:txBody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713232" y="2487168"/>
            <a:ext cx="1874520" cy="1243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确定对白、行为与核心科学信息</a:t>
            </a:r>
            <a:endParaRPr lang="en-US" sz="2000" dirty="0"/>
          </a:p>
        </p:txBody>
      </p:sp>
      <p:sp>
        <p:nvSpPr>
          <p:cNvPr id="11" name="Shape 8"/>
          <p:cNvSpPr/>
          <p:nvPr>
            <p:custDataLst>
              <p:tags r:id="rId4"/>
            </p:custDataLst>
          </p:nvPr>
        </p:nvSpPr>
        <p:spPr>
          <a:xfrm>
            <a:off x="2916936" y="1508760"/>
            <a:ext cx="2139696" cy="2761488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3D6D2"/>
            </a:solidFill>
            <a:prstDash val="solid"/>
          </a:ln>
        </p:spPr>
      </p:sp>
      <p:sp>
        <p:nvSpPr>
          <p:cNvPr id="12" name="Text 9"/>
          <p:cNvSpPr/>
          <p:nvPr>
            <p:custDataLst>
              <p:tags r:id="rId5"/>
            </p:custDataLst>
          </p:nvPr>
        </p:nvSpPr>
        <p:spPr>
          <a:xfrm>
            <a:off x="3044952" y="1728216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逐镜提示词</a:t>
            </a:r>
            <a:endParaRPr lang="en-US" sz="2000" dirty="0"/>
          </a:p>
        </p:txBody>
      </p:sp>
      <p:sp>
        <p:nvSpPr>
          <p:cNvPr id="13" name="Text 10"/>
          <p:cNvSpPr/>
          <p:nvPr>
            <p:custDataLst>
              <p:tags r:id="rId6"/>
            </p:custDataLst>
          </p:nvPr>
        </p:nvSpPr>
        <p:spPr>
          <a:xfrm>
            <a:off x="3054096" y="2487168"/>
            <a:ext cx="1874520" cy="1243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拆成可生成的单镜头动作</a:t>
            </a:r>
            <a:endParaRPr lang="en-US" sz="2000" dirty="0"/>
          </a:p>
        </p:txBody>
      </p:sp>
      <p:sp>
        <p:nvSpPr>
          <p:cNvPr id="14" name="Shape 11"/>
          <p:cNvSpPr/>
          <p:nvPr>
            <p:custDataLst>
              <p:tags r:id="rId7"/>
            </p:custDataLst>
          </p:nvPr>
        </p:nvSpPr>
        <p:spPr>
          <a:xfrm>
            <a:off x="5257800" y="1508760"/>
            <a:ext cx="2139696" cy="2761488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3D6D2"/>
            </a:solidFill>
            <a:prstDash val="solid"/>
          </a:ln>
        </p:spPr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5385816" y="1728216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即梦AI</a:t>
            </a:r>
            <a:endParaRPr lang="en-US" sz="2000" dirty="0"/>
          </a:p>
        </p:txBody>
      </p:sp>
      <p:sp>
        <p:nvSpPr>
          <p:cNvPr id="16" name="Text 13"/>
          <p:cNvSpPr/>
          <p:nvPr>
            <p:custDataLst>
              <p:tags r:id="rId9"/>
            </p:custDataLst>
          </p:nvPr>
        </p:nvSpPr>
        <p:spPr>
          <a:xfrm>
            <a:off x="5394960" y="2487168"/>
            <a:ext cx="1874520" cy="1243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生成参考图及图生视频素材</a:t>
            </a:r>
            <a:endParaRPr lang="en-US" sz="2000" dirty="0"/>
          </a:p>
        </p:txBody>
      </p:sp>
      <p:sp>
        <p:nvSpPr>
          <p:cNvPr id="17" name="Shape 14"/>
          <p:cNvSpPr/>
          <p:nvPr>
            <p:custDataLst>
              <p:tags r:id="rId10"/>
            </p:custDataLst>
          </p:nvPr>
        </p:nvSpPr>
        <p:spPr>
          <a:xfrm>
            <a:off x="7598664" y="1508760"/>
            <a:ext cx="2139696" cy="2761488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3D6D2"/>
            </a:solidFill>
            <a:prstDash val="solid"/>
          </a:ln>
        </p:spPr>
      </p:sp>
      <p:sp>
        <p:nvSpPr>
          <p:cNvPr id="18" name="Text 15"/>
          <p:cNvSpPr/>
          <p:nvPr>
            <p:custDataLst>
              <p:tags r:id="rId11"/>
            </p:custDataLst>
          </p:nvPr>
        </p:nvSpPr>
        <p:spPr>
          <a:xfrm>
            <a:off x="7726680" y="1728216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剪映</a:t>
            </a:r>
            <a:endParaRPr lang="en-US" sz="2000" dirty="0"/>
          </a:p>
        </p:txBody>
      </p:sp>
      <p:sp>
        <p:nvSpPr>
          <p:cNvPr id="19" name="Text 16"/>
          <p:cNvSpPr/>
          <p:nvPr>
            <p:custDataLst>
              <p:tags r:id="rId12"/>
            </p:custDataLst>
          </p:nvPr>
        </p:nvSpPr>
        <p:spPr>
          <a:xfrm>
            <a:off x="7735824" y="2487168"/>
            <a:ext cx="1874520" cy="1243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拼接镜头、配音、字幕、科学信息</a:t>
            </a:r>
            <a:endParaRPr lang="en-US" sz="2000" dirty="0"/>
          </a:p>
        </p:txBody>
      </p:sp>
      <p:sp>
        <p:nvSpPr>
          <p:cNvPr id="20" name="Shape 17"/>
          <p:cNvSpPr/>
          <p:nvPr>
            <p:custDataLst>
              <p:tags r:id="rId13"/>
            </p:custDataLst>
          </p:nvPr>
        </p:nvSpPr>
        <p:spPr>
          <a:xfrm>
            <a:off x="9939528" y="1508760"/>
            <a:ext cx="2139696" cy="2761488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3D6D2"/>
            </a:solidFill>
            <a:prstDash val="solid"/>
          </a:ln>
        </p:spPr>
      </p:sp>
      <p:sp>
        <p:nvSpPr>
          <p:cNvPr id="21" name="Text 18"/>
          <p:cNvSpPr/>
          <p:nvPr>
            <p:custDataLst>
              <p:tags r:id="rId14"/>
            </p:custDataLst>
          </p:nvPr>
        </p:nvSpPr>
        <p:spPr>
          <a:xfrm>
            <a:off x="10067544" y="1728216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人工核对</a:t>
            </a:r>
            <a:endParaRPr lang="en-US" sz="2000" dirty="0"/>
          </a:p>
        </p:txBody>
      </p:sp>
      <p:sp>
        <p:nvSpPr>
          <p:cNvPr id="22" name="Text 19"/>
          <p:cNvSpPr/>
          <p:nvPr>
            <p:custDataLst>
              <p:tags r:id="rId15"/>
            </p:custDataLst>
          </p:nvPr>
        </p:nvSpPr>
        <p:spPr>
          <a:xfrm>
            <a:off x="10076688" y="2487168"/>
            <a:ext cx="1874520" cy="1243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检查剧情、科学示意及连续性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实际制作</a:t>
            </a: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过程</a:t>
            </a: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即梦</a:t>
            </a:r>
            <a:r>
              <a:rPr lang="en-US" altLang="zh-CN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</a:t>
            </a:r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 / 制作过程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02360" y="1147445"/>
            <a:ext cx="10009505" cy="5208905"/>
          </a:xfrm>
          <a:prstGeom prst="roundRect">
            <a:avLst>
              <a:gd name="adj" fmla="val 1656"/>
            </a:avLst>
          </a:prstGeom>
          <a:solidFill>
            <a:srgbClr val="FBF8F7"/>
          </a:solidFill>
          <a:ln w="12700">
            <a:solidFill>
              <a:srgbClr val="C4A5A4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940" y="1353820"/>
            <a:ext cx="4415790" cy="237934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3905" y="1351915"/>
            <a:ext cx="5038725" cy="479234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4940" y="3733165"/>
            <a:ext cx="4418965" cy="24110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制作阶段遇到的新问题：资源有限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 / 现实限制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具体约束</a:t>
            </a: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即梦AI生成额度与会员限制，无法按原计划充分生成所有镜头及尝试版本。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制作资源不只影响数量，还影响返工余地。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我们采取的调整</a:t>
            </a:r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优先保留能够承载核心科普信息的内容。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压缩部分剧情铺垫与实验展示，以现有生成素材完成初版。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可量化的压缩：原剧本与初版对照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14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 / 迭代修改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1572768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家庭疑问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154680" y="1572768"/>
            <a:ext cx="3611880" cy="393192"/>
          </a:xfrm>
          <a:prstGeom prst="rect">
            <a:avLst/>
          </a:prstGeom>
          <a:solidFill>
            <a:srgbClr val="E5D5D0"/>
          </a:solidFill>
          <a:ln w="12700">
            <a:solidFill>
              <a:srgbClr val="E5D5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54680" y="2112264"/>
            <a:ext cx="2063931" cy="393192"/>
          </a:xfrm>
          <a:prstGeom prst="rect">
            <a:avLst/>
          </a:prstGeom>
          <a:solidFill>
            <a:srgbClr val="A44A52"/>
          </a:solidFill>
          <a:ln w="12700">
            <a:solidFill>
              <a:srgbClr val="A44A5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82112" y="2560320"/>
            <a:ext cx="5212080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6262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35 s  →  20 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41248" y="3172968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科学实验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154680" y="3172968"/>
            <a:ext cx="7223760" cy="393192"/>
          </a:xfrm>
          <a:prstGeom prst="rect">
            <a:avLst/>
          </a:prstGeom>
          <a:solidFill>
            <a:srgbClr val="E5D5D0"/>
          </a:solidFill>
          <a:ln w="12700">
            <a:solidFill>
              <a:srgbClr val="E5D5D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54680" y="3712464"/>
            <a:ext cx="4643846" cy="393192"/>
          </a:xfrm>
          <a:prstGeom prst="rect">
            <a:avLst/>
          </a:prstGeom>
          <a:solidFill>
            <a:srgbClr val="6089A0"/>
          </a:solidFill>
          <a:ln w="12700">
            <a:solidFill>
              <a:srgbClr val="6089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82112" y="4160520"/>
            <a:ext cx="5212080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6262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70 s  →  45 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77240" y="5276088"/>
            <a:ext cx="106984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家庭疑问压缩15秒；科学实验压缩25秒，合计压缩40秒。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压缩对叙事与科普分别意味着什么？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 / 反思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家庭疑问：35秒 → 20秒</a:t>
            </a: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优势：切入更快，减少铺垫。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代价：周阿姨生活经验、母女讨论与认知转变的呈现空间减少。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科学实验：70秒 → 45秒</a:t>
            </a:r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优势：内容更集中。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代价：三项机制的解释、视觉停留与知识消化时间减少，需依靠字幕精炼信息。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AI制作的难点：哪些能解决，哪些不能？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 / 技术反思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工具擅长的部分</a:t>
            </a: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从文本描述生成生活化场景。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制作肉眼不可见的微观原理示意。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帮助以较低拍摄门槛形成科普初稿。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仍需人工负责的部分</a:t>
            </a:r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角色与道具的连续性、动作逻辑。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字幕数字及科学机制审核。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最终镜头选择、配音节奏与受众适配。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初步成果展示：视频初版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17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04 / 成果展示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1417320"/>
            <a:ext cx="10287000" cy="4416552"/>
          </a:xfrm>
          <a:prstGeom prst="roundRect">
            <a:avLst>
              <a:gd name="adj" fmla="val 1656"/>
            </a:avLst>
          </a:prstGeom>
          <a:solidFill>
            <a:srgbClr val="FBF8F7"/>
          </a:solidFill>
          <a:ln w="12700">
            <a:solidFill>
              <a:srgbClr val="C4A5A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42416" y="1545336"/>
            <a:ext cx="10030968" cy="4160520"/>
          </a:xfrm>
          <a:prstGeom prst="line">
            <a:avLst/>
          </a:prstGeom>
          <a:noFill/>
          <a:ln w="12700">
            <a:solidFill>
              <a:srgbClr val="D9C0B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2176272"/>
            <a:ext cx="9829800" cy="34838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请插入你们当前初版视频或视频封面及链接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作品未公开发布，课堂展示不代表传播效果验证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062391B3-278B-44F7-861A-2A3803F2A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原模板标题">
            <a:extLst>
              <a:ext uri="{FF2B5EF4-FFF2-40B4-BE49-F238E27FC236}">
                <a16:creationId xmlns:a16="http://schemas.microsoft.com/office/drawing/2014/main" id="{D587F95D-9F95-4129-879C-BE2F16BCF355}"/>
              </a:ext>
            </a:extLst>
          </p:cNvPr>
          <p:cNvSpPr>
            <a:spLocks noGrp="1"/>
          </p:cNvSpPr>
          <p:nvPr/>
        </p:nvSpPr>
        <p:spPr>
          <a:xfrm>
            <a:off x="658368" y="347472"/>
            <a:ext cx="10477500" cy="54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3200" b="1">
                <a:solidFill>
                  <a:srgbClr val="981F2B"/>
                </a:solidFill>
                <a:latin typeface="微软雅黑"/>
                <a:ea typeface="微软雅黑"/>
              </a:rPr>
              <a:t>从视频讲解进入游戏中的情境判断</a:t>
            </a:r>
          </a:p>
        </p:txBody>
      </p:sp>
      <p:sp>
        <p:nvSpPr>
          <p:cNvPr id="3" name="页码">
            <a:extLst>
              <a:ext uri="{FF2B5EF4-FFF2-40B4-BE49-F238E27FC236}">
                <a16:creationId xmlns:a16="http://schemas.microsoft.com/office/drawing/2014/main" id="{026EF51E-FA6B-479D-8BE9-72B716F26C66}"/>
              </a:ext>
            </a:extLst>
          </p:cNvPr>
          <p:cNvSpPr>
            <a:spLocks noGrp="1"/>
          </p:cNvSpPr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981F2B"/>
                </a:solidFill>
                <a:latin typeface="Times New Roman"/>
                <a:ea typeface="微软雅黑"/>
              </a:rPr>
              <a:t>18</a:t>
            </a:r>
          </a:p>
        </p:txBody>
      </p:sp>
      <p:sp>
        <p:nvSpPr>
          <p:cNvPr id="4" name="重点说明">
            <a:extLst>
              <a:ext uri="{FF2B5EF4-FFF2-40B4-BE49-F238E27FC236}">
                <a16:creationId xmlns:a16="http://schemas.microsoft.com/office/drawing/2014/main" id="{093F810D-8277-4764-ACE8-50AF4928EA2C}"/>
              </a:ext>
            </a:extLst>
          </p:cNvPr>
          <p:cNvSpPr>
            <a:spLocks noGrp="1"/>
          </p:cNvSpPr>
          <p:nvPr/>
        </p:nvSpPr>
        <p:spPr>
          <a:xfrm>
            <a:off x="800100" y="1657350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00" b="1">
                <a:solidFill>
                  <a:srgbClr val="333333"/>
                </a:solidFill>
                <a:latin typeface="微软雅黑"/>
                <a:ea typeface="微软雅黑"/>
              </a:defRPr>
            </a:defPPr>
            <a:lvl1pPr>
              <a:defRPr sz="2900" b="1">
                <a:solidFill>
                  <a:srgbClr val="333333"/>
                </a:solidFill>
                <a:latin typeface="微软雅黑"/>
                <a:ea typeface="微软雅黑"/>
              </a:defRPr>
            </a:lvl1pPr>
            <a:lvl2pPr>
              <a:defRPr sz="2900" b="1">
                <a:solidFill>
                  <a:srgbClr val="333333"/>
                </a:solidFill>
                <a:latin typeface="微软雅黑"/>
                <a:ea typeface="微软雅黑"/>
              </a:defRPr>
            </a:lvl2pPr>
            <a:lvl3pPr>
              <a:defRPr sz="2900" b="1">
                <a:solidFill>
                  <a:srgbClr val="333333"/>
                </a:solidFill>
                <a:latin typeface="微软雅黑"/>
                <a:ea typeface="微软雅黑"/>
              </a:defRPr>
            </a:lvl3pPr>
            <a:lvl4pPr>
              <a:defRPr sz="2900" b="1">
                <a:solidFill>
                  <a:srgbClr val="333333"/>
                </a:solidFill>
                <a:latin typeface="微软雅黑"/>
                <a:ea typeface="微软雅黑"/>
              </a:defRPr>
            </a:lvl4pPr>
            <a:lvl5pPr>
              <a:defRPr sz="2900" b="1">
                <a:solidFill>
                  <a:srgbClr val="333333"/>
                </a:solidFill>
                <a:latin typeface="微软雅黑"/>
                <a:ea typeface="微软雅黑"/>
              </a:defRPr>
            </a:lvl5pPr>
            <a:lvl6pPr>
              <a:defRPr sz="2900" b="1">
                <a:solidFill>
                  <a:srgbClr val="333333"/>
                </a:solidFill>
                <a:latin typeface="微软雅黑"/>
                <a:ea typeface="微软雅黑"/>
              </a:defRPr>
            </a:lvl6pPr>
            <a:lvl7pPr>
              <a:defRPr sz="2900" b="1">
                <a:solidFill>
                  <a:srgbClr val="333333"/>
                </a:solidFill>
                <a:latin typeface="微软雅黑"/>
                <a:ea typeface="微软雅黑"/>
              </a:defRPr>
            </a:lvl7pPr>
            <a:lvl8pPr>
              <a:defRPr sz="2900" b="1">
                <a:solidFill>
                  <a:srgbClr val="333333"/>
                </a:solidFill>
                <a:latin typeface="微软雅黑"/>
                <a:ea typeface="微软雅黑"/>
              </a:defRPr>
            </a:lvl8pPr>
            <a:lvl9pPr>
              <a:defRPr sz="2900" b="1">
                <a:solidFill>
                  <a:srgbClr val="333333"/>
                </a:solidFill>
                <a:latin typeface="微软雅黑"/>
                <a:ea typeface="微软雅黑"/>
              </a:defRPr>
            </a:lvl9pPr>
          </a:lstStyle>
          <a:p>
            <a:pPr>
              <a:defRPr sz="2900" b="1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2900" b="1">
                <a:solidFill>
                  <a:srgbClr val="333333"/>
                </a:solidFill>
                <a:latin typeface="微软雅黑"/>
                <a:ea typeface="微软雅黑"/>
              </a:rPr>
              <a:t>如果你来安排下一餐，会怎样处理留下的饭菜？</a:t>
            </a:r>
          </a:p>
        </p:txBody>
      </p:sp>
      <p:sp>
        <p:nvSpPr>
          <p:cNvPr id="5" name="讲解摘要">
            <a:extLst>
              <a:ext uri="{FF2B5EF4-FFF2-40B4-BE49-F238E27FC236}">
                <a16:creationId xmlns:a16="http://schemas.microsoft.com/office/drawing/2014/main" id="{21CE7670-6163-4F8A-812A-93F3CA8046B8}"/>
              </a:ext>
            </a:extLst>
          </p:cNvPr>
          <p:cNvSpPr>
            <a:spLocks noGrp="1"/>
          </p:cNvSpPr>
          <p:nvPr/>
        </p:nvSpPr>
        <p:spPr>
          <a:xfrm>
            <a:off x="800100" y="2905125"/>
            <a:ext cx="104775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00" b="0">
                <a:solidFill>
                  <a:srgbClr val="333333"/>
                </a:solidFill>
                <a:latin typeface="微软雅黑"/>
                <a:ea typeface="微软雅黑"/>
              </a:defRPr>
            </a:defPPr>
            <a:lvl1pPr>
              <a:defRPr sz="2200" b="0">
                <a:solidFill>
                  <a:srgbClr val="333333"/>
                </a:solidFill>
                <a:latin typeface="微软雅黑"/>
                <a:ea typeface="微软雅黑"/>
              </a:defRPr>
            </a:lvl1pPr>
            <a:lvl2pPr>
              <a:defRPr sz="2200" b="0">
                <a:solidFill>
                  <a:srgbClr val="333333"/>
                </a:solidFill>
                <a:latin typeface="微软雅黑"/>
                <a:ea typeface="微软雅黑"/>
              </a:defRPr>
            </a:lvl2pPr>
            <a:lvl3pPr>
              <a:defRPr sz="2200" b="0">
                <a:solidFill>
                  <a:srgbClr val="333333"/>
                </a:solidFill>
                <a:latin typeface="微软雅黑"/>
                <a:ea typeface="微软雅黑"/>
              </a:defRPr>
            </a:lvl3pPr>
            <a:lvl4pPr>
              <a:defRPr sz="2200" b="0">
                <a:solidFill>
                  <a:srgbClr val="333333"/>
                </a:solidFill>
                <a:latin typeface="微软雅黑"/>
                <a:ea typeface="微软雅黑"/>
              </a:defRPr>
            </a:lvl4pPr>
            <a:lvl5pPr>
              <a:defRPr sz="2200" b="0">
                <a:solidFill>
                  <a:srgbClr val="333333"/>
                </a:solidFill>
                <a:latin typeface="微软雅黑"/>
                <a:ea typeface="微软雅黑"/>
              </a:defRPr>
            </a:lvl5pPr>
            <a:lvl6pPr>
              <a:defRPr sz="2200" b="0">
                <a:solidFill>
                  <a:srgbClr val="333333"/>
                </a:solidFill>
                <a:latin typeface="微软雅黑"/>
                <a:ea typeface="微软雅黑"/>
              </a:defRPr>
            </a:lvl6pPr>
            <a:lvl7pPr>
              <a:defRPr sz="2200" b="0">
                <a:solidFill>
                  <a:srgbClr val="333333"/>
                </a:solidFill>
                <a:latin typeface="微软雅黑"/>
                <a:ea typeface="微软雅黑"/>
              </a:defRPr>
            </a:lvl7pPr>
            <a:lvl8pPr>
              <a:defRPr sz="2200" b="0">
                <a:solidFill>
                  <a:srgbClr val="333333"/>
                </a:solidFill>
                <a:latin typeface="微软雅黑"/>
                <a:ea typeface="微软雅黑"/>
              </a:defRPr>
            </a:lvl8pPr>
            <a:lvl9pPr>
              <a:defRPr sz="2200" b="0">
                <a:solidFill>
                  <a:srgbClr val="333333"/>
                </a:solidFill>
                <a:latin typeface="微软雅黑"/>
                <a:ea typeface="微软雅黑"/>
              </a:defRPr>
            </a:lvl9pPr>
          </a:lstStyle>
          <a:p>
            <a:pPr>
              <a:defRPr sz="22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lang="zh-CN" altLang="en-US" sz="2200" b="0">
                <a:solidFill>
                  <a:srgbClr val="333333"/>
                </a:solidFill>
                <a:latin typeface="微软雅黑"/>
                <a:ea typeface="微软雅黑"/>
              </a:rPr>
              <a:t>视频集中说明风险条件与处理方法。</a:t>
            </a:r>
          </a:p>
          <a:p>
            <a:pPr>
              <a:defRPr sz="2200" b="0">
                <a:solidFill>
                  <a:srgbClr val="333333"/>
                </a:solidFill>
                <a:latin typeface="微软雅黑"/>
                <a:ea typeface="微软雅黑"/>
              </a:defRPr>
            </a:pPr>
            <a:endParaRPr lang="zh-CN" altLang="en-US" sz="2200" b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defRPr sz="22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lang="zh-CN" altLang="en-US" sz="2200" b="0">
                <a:solidFill>
                  <a:srgbClr val="333333"/>
                </a:solidFill>
                <a:latin typeface="微软雅黑"/>
                <a:ea typeface="微软雅黑"/>
              </a:rPr>
              <a:t>游戏提供可操作的用餐情境，让选择带来后续结果。</a:t>
            </a:r>
            <a:endParaRPr sz="2200" b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6" name="游戏名称">
            <a:extLst>
              <a:ext uri="{FF2B5EF4-FFF2-40B4-BE49-F238E27FC236}">
                <a16:creationId xmlns:a16="http://schemas.microsoft.com/office/drawing/2014/main" id="{721171EF-733E-430F-B051-FDEC5A900F1F}"/>
              </a:ext>
            </a:extLst>
          </p:cNvPr>
          <p:cNvSpPr>
            <a:spLocks noGrp="1"/>
          </p:cNvSpPr>
          <p:nvPr/>
        </p:nvSpPr>
        <p:spPr>
          <a:xfrm>
            <a:off x="800100" y="4695825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28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28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28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28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28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28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28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28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28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28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2800" b="1">
                <a:solidFill>
                  <a:srgbClr val="981F2B"/>
                </a:solidFill>
                <a:latin typeface="微软雅黑"/>
                <a:ea typeface="微软雅黑"/>
              </a:rPr>
              <a:t>《好好吃饭》周阿姨篇</a:t>
            </a:r>
          </a:p>
        </p:txBody>
      </p:sp>
      <p:sp>
        <p:nvSpPr>
          <p:cNvPr id="7" name="游戏目标">
            <a:extLst>
              <a:ext uri="{FF2B5EF4-FFF2-40B4-BE49-F238E27FC236}">
                <a16:creationId xmlns:a16="http://schemas.microsoft.com/office/drawing/2014/main" id="{5F6950CB-59D9-4F0F-9FCD-4045C070F42E}"/>
              </a:ext>
            </a:extLst>
          </p:cNvPr>
          <p:cNvSpPr>
            <a:spLocks noGrp="1"/>
          </p:cNvSpPr>
          <p:nvPr/>
        </p:nvSpPr>
        <p:spPr>
          <a:xfrm>
            <a:off x="800100" y="5381625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00" b="0">
                <a:solidFill>
                  <a:srgbClr val="555555"/>
                </a:solidFill>
                <a:latin typeface="微软雅黑"/>
                <a:ea typeface="微软雅黑"/>
              </a:defRPr>
            </a:defPPr>
            <a:lvl1pPr>
              <a:defRPr sz="2000" b="0">
                <a:solidFill>
                  <a:srgbClr val="555555"/>
                </a:solidFill>
                <a:latin typeface="微软雅黑"/>
                <a:ea typeface="微软雅黑"/>
              </a:defRPr>
            </a:lvl1pPr>
            <a:lvl2pPr>
              <a:defRPr sz="2000" b="0">
                <a:solidFill>
                  <a:srgbClr val="555555"/>
                </a:solidFill>
                <a:latin typeface="微软雅黑"/>
                <a:ea typeface="微软雅黑"/>
              </a:defRPr>
            </a:lvl2pPr>
            <a:lvl3pPr>
              <a:defRPr sz="2000" b="0">
                <a:solidFill>
                  <a:srgbClr val="555555"/>
                </a:solidFill>
                <a:latin typeface="微软雅黑"/>
                <a:ea typeface="微软雅黑"/>
              </a:defRPr>
            </a:lvl3pPr>
            <a:lvl4pPr>
              <a:defRPr sz="2000" b="0">
                <a:solidFill>
                  <a:srgbClr val="555555"/>
                </a:solidFill>
                <a:latin typeface="微软雅黑"/>
                <a:ea typeface="微软雅黑"/>
              </a:defRPr>
            </a:lvl4pPr>
            <a:lvl5pPr>
              <a:defRPr sz="2000" b="0">
                <a:solidFill>
                  <a:srgbClr val="555555"/>
                </a:solidFill>
                <a:latin typeface="微软雅黑"/>
                <a:ea typeface="微软雅黑"/>
              </a:defRPr>
            </a:lvl5pPr>
            <a:lvl6pPr>
              <a:defRPr sz="2000" b="0">
                <a:solidFill>
                  <a:srgbClr val="555555"/>
                </a:solidFill>
                <a:latin typeface="微软雅黑"/>
                <a:ea typeface="微软雅黑"/>
              </a:defRPr>
            </a:lvl6pPr>
            <a:lvl7pPr>
              <a:defRPr sz="2000" b="0">
                <a:solidFill>
                  <a:srgbClr val="555555"/>
                </a:solidFill>
                <a:latin typeface="微软雅黑"/>
                <a:ea typeface="微软雅黑"/>
              </a:defRPr>
            </a:lvl7pPr>
            <a:lvl8pPr>
              <a:defRPr sz="2000" b="0">
                <a:solidFill>
                  <a:srgbClr val="555555"/>
                </a:solidFill>
                <a:latin typeface="微软雅黑"/>
                <a:ea typeface="微软雅黑"/>
              </a:defRPr>
            </a:lvl8pPr>
            <a:lvl9pPr>
              <a:defRPr sz="2000" b="0">
                <a:solidFill>
                  <a:srgbClr val="555555"/>
                </a:solidFill>
                <a:latin typeface="微软雅黑"/>
                <a:ea typeface="微软雅黑"/>
              </a:defRPr>
            </a:lvl9pPr>
          </a:lstStyle>
          <a:p>
            <a:pPr>
              <a:defRPr sz="2000" b="0">
                <a:solidFill>
                  <a:srgbClr val="555555"/>
                </a:solidFill>
                <a:latin typeface="微软雅黑"/>
                <a:ea typeface="微软雅黑"/>
              </a:defRPr>
            </a:pPr>
            <a:r>
              <a:rPr sz="2000" b="0">
                <a:solidFill>
                  <a:srgbClr val="555555"/>
                </a:solidFill>
                <a:latin typeface="微软雅黑"/>
                <a:ea typeface="微软雅黑"/>
              </a:rPr>
              <a:t>围绕“自己的舞台”，安排三餐、备餐、休息与排练。</a:t>
            </a:r>
          </a:p>
        </p:txBody>
      </p:sp>
      <p:sp>
        <p:nvSpPr>
          <p:cNvPr id="8" name="原模板页脚">
            <a:extLst>
              <a:ext uri="{FF2B5EF4-FFF2-40B4-BE49-F238E27FC236}">
                <a16:creationId xmlns:a16="http://schemas.microsoft.com/office/drawing/2014/main" id="{75C91BAB-09F2-4E8D-883A-B9B41908AAB2}"/>
              </a:ext>
            </a:extLst>
          </p:cNvPr>
          <p:cNvSpPr>
            <a:spLocks noGrp="1"/>
          </p:cNvSpPr>
          <p:nvPr/>
        </p:nvSpPr>
        <p:spPr>
          <a:xfrm>
            <a:off x="685800" y="6510528"/>
            <a:ext cx="7620000" cy="201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A39292"/>
                </a:solidFill>
                <a:latin typeface="Times New Roman"/>
                <a:ea typeface="微软雅黑"/>
              </a:rPr>
              <a:t>04 / 游戏设计的阶段性落实</a:t>
            </a:r>
          </a:p>
        </p:txBody>
      </p:sp>
      <p:sp>
        <p:nvSpPr>
          <p:cNvPr id="10001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002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71484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B613B8B9-229F-4534-9E56-A1A0474EA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原模板标题">
            <a:extLst>
              <a:ext uri="{FF2B5EF4-FFF2-40B4-BE49-F238E27FC236}">
                <a16:creationId xmlns:a16="http://schemas.microsoft.com/office/drawing/2014/main" id="{09D77F4C-3A9C-4886-9EC7-533E64A930CB}"/>
              </a:ext>
            </a:extLst>
          </p:cNvPr>
          <p:cNvSpPr>
            <a:spLocks noGrp="1"/>
          </p:cNvSpPr>
          <p:nvPr/>
        </p:nvSpPr>
        <p:spPr>
          <a:xfrm>
            <a:off x="658368" y="347472"/>
            <a:ext cx="10477500" cy="54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3200" b="1">
                <a:solidFill>
                  <a:srgbClr val="981F2B"/>
                </a:solidFill>
                <a:latin typeface="微软雅黑"/>
                <a:ea typeface="微软雅黑"/>
              </a:rPr>
              <a:t>《好好吃饭》周阿姨篇：自己的舞台</a:t>
            </a:r>
          </a:p>
        </p:txBody>
      </p:sp>
      <p:sp>
        <p:nvSpPr>
          <p:cNvPr id="3" name="页码">
            <a:extLst>
              <a:ext uri="{FF2B5EF4-FFF2-40B4-BE49-F238E27FC236}">
                <a16:creationId xmlns:a16="http://schemas.microsoft.com/office/drawing/2014/main" id="{97DF1138-0AD4-4647-913D-5117BF793F9B}"/>
              </a:ext>
            </a:extLst>
          </p:cNvPr>
          <p:cNvSpPr>
            <a:spLocks noGrp="1"/>
          </p:cNvSpPr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981F2B"/>
                </a:solidFill>
                <a:latin typeface="Times New Roman"/>
                <a:ea typeface="微软雅黑"/>
              </a:rPr>
              <a:t>19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BFA04F-25B0-4AEC-BF6D-EA2CECAF5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1485900"/>
            <a:ext cx="8096250" cy="4554141"/>
          </a:xfrm>
          <a:prstGeom prst="rect">
            <a:avLst/>
          </a:prstGeom>
        </p:spPr>
      </p:pic>
      <p:sp>
        <p:nvSpPr>
          <p:cNvPr id="5" name="重点说明">
            <a:extLst>
              <a:ext uri="{FF2B5EF4-FFF2-40B4-BE49-F238E27FC236}">
                <a16:creationId xmlns:a16="http://schemas.microsoft.com/office/drawing/2014/main" id="{9484992D-C27E-40DD-B13C-07ADAA91556E}"/>
              </a:ext>
            </a:extLst>
          </p:cNvPr>
          <p:cNvSpPr>
            <a:spLocks noGrp="1"/>
          </p:cNvSpPr>
          <p:nvPr/>
        </p:nvSpPr>
        <p:spPr>
          <a:xfrm>
            <a:off x="9067800" y="1600200"/>
            <a:ext cx="2714625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2000" b="1">
                <a:solidFill>
                  <a:srgbClr val="981F2B"/>
                </a:solidFill>
                <a:latin typeface="微软雅黑"/>
                <a:ea typeface="微软雅黑"/>
              </a:rPr>
              <a:t>周日参加社区汇演</a:t>
            </a:r>
          </a:p>
        </p:txBody>
      </p:sp>
      <p:sp>
        <p:nvSpPr>
          <p:cNvPr id="6" name="讲解摘要">
            <a:extLst>
              <a:ext uri="{FF2B5EF4-FFF2-40B4-BE49-F238E27FC236}">
                <a16:creationId xmlns:a16="http://schemas.microsoft.com/office/drawing/2014/main" id="{87CEECC3-E3D5-41C0-BA53-9207FA6905B9}"/>
              </a:ext>
            </a:extLst>
          </p:cNvPr>
          <p:cNvSpPr>
            <a:spLocks noGrp="1"/>
          </p:cNvSpPr>
          <p:nvPr/>
        </p:nvSpPr>
        <p:spPr>
          <a:xfrm>
            <a:off x="9067800" y="2952750"/>
            <a:ext cx="2714625" cy="2952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defPPr>
            <a:lvl1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1pPr>
            <a:lvl2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2pPr>
            <a:lvl3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3pPr>
            <a:lvl4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4pPr>
            <a:lvl5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5pPr>
            <a:lvl6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6pPr>
            <a:lvl7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7pPr>
            <a:lvl8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8pPr>
            <a:lvl9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9pPr>
          </a:lstStyle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lang="zh-CN" altLang="en-US" sz="1800" b="0">
                <a:solidFill>
                  <a:srgbClr val="333333"/>
                </a:solidFill>
                <a:latin typeface="微软雅黑"/>
                <a:ea typeface="微软雅黑"/>
              </a:rPr>
              <a:t>玩家扮演周阿姨，安排一周生活，准备周日的社区合唱汇演。</a:t>
            </a:r>
          </a:p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endParaRPr lang="zh-CN" altLang="en-US" sz="1800" b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lang="zh-CN" altLang="en-US" sz="1800" b="0">
                <a:solidFill>
                  <a:srgbClr val="333333"/>
                </a:solidFill>
                <a:latin typeface="微软雅黑"/>
                <a:ea typeface="微软雅黑"/>
              </a:rPr>
              <a:t>本次聚焦剩菜处理，观察做饭与保存方式怎样影响下一餐。</a:t>
            </a:r>
            <a:endParaRPr sz="1800" b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7" name="原模板页脚">
            <a:extLst>
              <a:ext uri="{FF2B5EF4-FFF2-40B4-BE49-F238E27FC236}">
                <a16:creationId xmlns:a16="http://schemas.microsoft.com/office/drawing/2014/main" id="{6072ECD1-C845-4E3A-95D5-60598BCB3F74}"/>
              </a:ext>
            </a:extLst>
          </p:cNvPr>
          <p:cNvSpPr>
            <a:spLocks noGrp="1"/>
          </p:cNvSpPr>
          <p:nvPr/>
        </p:nvSpPr>
        <p:spPr>
          <a:xfrm>
            <a:off x="685800" y="6510528"/>
            <a:ext cx="7620000" cy="201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A39292"/>
                </a:solidFill>
                <a:latin typeface="Times New Roman"/>
                <a:ea typeface="微软雅黑"/>
              </a:rPr>
              <a:t>04 / 游戏设计的阶段性落实</a:t>
            </a:r>
          </a:p>
        </p:txBody>
      </p:sp>
      <p:sp>
        <p:nvSpPr>
          <p:cNvPr id="10001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002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69062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7D628B4F-6B8E-40BF-A520-F769404EF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原模板标题">
            <a:extLst>
              <a:ext uri="{FF2B5EF4-FFF2-40B4-BE49-F238E27FC236}">
                <a16:creationId xmlns:a16="http://schemas.microsoft.com/office/drawing/2014/main" id="{BE170269-C2AD-4134-AC4F-783527C40CBF}"/>
              </a:ext>
            </a:extLst>
          </p:cNvPr>
          <p:cNvSpPr>
            <a:spLocks noGrp="1"/>
          </p:cNvSpPr>
          <p:nvPr/>
        </p:nvSpPr>
        <p:spPr>
          <a:xfrm>
            <a:off x="658368" y="347472"/>
            <a:ext cx="10477500" cy="54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3200" b="1">
                <a:solidFill>
                  <a:srgbClr val="981F2B"/>
                </a:solidFill>
                <a:latin typeface="微软雅黑"/>
                <a:ea typeface="微软雅黑"/>
              </a:rPr>
              <a:t>备餐需要放在一天的生活安排中考虑</a:t>
            </a:r>
          </a:p>
        </p:txBody>
      </p:sp>
      <p:sp>
        <p:nvSpPr>
          <p:cNvPr id="3" name="页码">
            <a:extLst>
              <a:ext uri="{FF2B5EF4-FFF2-40B4-BE49-F238E27FC236}">
                <a16:creationId xmlns:a16="http://schemas.microsoft.com/office/drawing/2014/main" id="{C96465C0-1683-4F71-B159-AB90BD4D9181}"/>
              </a:ext>
            </a:extLst>
          </p:cNvPr>
          <p:cNvSpPr>
            <a:spLocks noGrp="1"/>
          </p:cNvSpPr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981F2B"/>
                </a:solidFill>
                <a:latin typeface="Times New Roman"/>
                <a:ea typeface="微软雅黑"/>
              </a:rPr>
              <a:t>20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9E0231-D60D-4B37-9B5D-F3D484C311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1485900"/>
            <a:ext cx="8096250" cy="4554141"/>
          </a:xfrm>
          <a:prstGeom prst="rect">
            <a:avLst/>
          </a:prstGeom>
        </p:spPr>
      </p:pic>
      <p:sp>
        <p:nvSpPr>
          <p:cNvPr id="5" name="重点说明">
            <a:extLst>
              <a:ext uri="{FF2B5EF4-FFF2-40B4-BE49-F238E27FC236}">
                <a16:creationId xmlns:a16="http://schemas.microsoft.com/office/drawing/2014/main" id="{04375B1D-ADD9-4347-96D0-954AE92E0ED8}"/>
              </a:ext>
            </a:extLst>
          </p:cNvPr>
          <p:cNvSpPr>
            <a:spLocks noGrp="1"/>
          </p:cNvSpPr>
          <p:nvPr/>
        </p:nvSpPr>
        <p:spPr>
          <a:xfrm>
            <a:off x="9067800" y="1600200"/>
            <a:ext cx="2714625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2000" b="1">
                <a:solidFill>
                  <a:srgbClr val="981F2B"/>
                </a:solidFill>
                <a:latin typeface="微软雅黑"/>
                <a:ea typeface="微软雅黑"/>
              </a:rPr>
              <a:t>备餐服务后续生活</a:t>
            </a:r>
          </a:p>
        </p:txBody>
      </p:sp>
      <p:sp>
        <p:nvSpPr>
          <p:cNvPr id="6" name="讲解摘要">
            <a:extLst>
              <a:ext uri="{FF2B5EF4-FFF2-40B4-BE49-F238E27FC236}">
                <a16:creationId xmlns:a16="http://schemas.microsoft.com/office/drawing/2014/main" id="{D7DD768A-2AAA-468F-B79D-6B5249B1F20D}"/>
              </a:ext>
            </a:extLst>
          </p:cNvPr>
          <p:cNvSpPr>
            <a:spLocks noGrp="1"/>
          </p:cNvSpPr>
          <p:nvPr/>
        </p:nvSpPr>
        <p:spPr>
          <a:xfrm>
            <a:off x="9067800" y="2952750"/>
            <a:ext cx="2714625" cy="2952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defPPr>
            <a:lvl1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1pPr>
            <a:lvl2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2pPr>
            <a:lvl3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3pPr>
            <a:lvl4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4pPr>
            <a:lvl5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5pPr>
            <a:lvl6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6pPr>
            <a:lvl7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7pPr>
            <a:lvl8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8pPr>
            <a:lvl9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9pPr>
          </a:lstStyle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lang="zh-CN" altLang="en-US" sz="1800" b="0">
                <a:solidFill>
                  <a:srgbClr val="333333"/>
                </a:solidFill>
                <a:latin typeface="微软雅黑"/>
                <a:ea typeface="微软雅黑"/>
              </a:rPr>
              <a:t>玩家需要在练歌、休息和采购之间安排时间，并兼顾食材与精力。</a:t>
            </a:r>
          </a:p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endParaRPr lang="zh-CN" altLang="en-US" sz="1800" b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lang="zh-CN" altLang="en-US" sz="1800" b="0">
                <a:solidFill>
                  <a:srgbClr val="333333"/>
                </a:solidFill>
                <a:latin typeface="微软雅黑"/>
                <a:ea typeface="微软雅黑"/>
              </a:rPr>
              <a:t>提前备餐也是可选策略，留存份需要安排好保存与后续取用。</a:t>
            </a:r>
            <a:endParaRPr sz="1800" b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7" name="原模板页脚">
            <a:extLst>
              <a:ext uri="{FF2B5EF4-FFF2-40B4-BE49-F238E27FC236}">
                <a16:creationId xmlns:a16="http://schemas.microsoft.com/office/drawing/2014/main" id="{36D417A6-9278-42F9-B74A-D56D4B65F767}"/>
              </a:ext>
            </a:extLst>
          </p:cNvPr>
          <p:cNvSpPr>
            <a:spLocks noGrp="1"/>
          </p:cNvSpPr>
          <p:nvPr/>
        </p:nvSpPr>
        <p:spPr>
          <a:xfrm>
            <a:off x="685800" y="6510528"/>
            <a:ext cx="7620000" cy="201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A39292"/>
                </a:solidFill>
                <a:latin typeface="Times New Roman"/>
                <a:ea typeface="微软雅黑"/>
              </a:rPr>
              <a:t>04 / 游戏设计的阶段性落实</a:t>
            </a:r>
          </a:p>
        </p:txBody>
      </p:sp>
      <p:sp>
        <p:nvSpPr>
          <p:cNvPr id="10001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002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2958096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2A8CBAB-FB2D-48BF-B46E-EBDAEBDFC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原模板标题">
            <a:extLst>
              <a:ext uri="{FF2B5EF4-FFF2-40B4-BE49-F238E27FC236}">
                <a16:creationId xmlns:a16="http://schemas.microsoft.com/office/drawing/2014/main" id="{BD6A3E11-B4E5-492B-8D83-CF22A2499040}"/>
              </a:ext>
            </a:extLst>
          </p:cNvPr>
          <p:cNvSpPr>
            <a:spLocks noGrp="1"/>
          </p:cNvSpPr>
          <p:nvPr/>
        </p:nvSpPr>
        <p:spPr>
          <a:xfrm>
            <a:off x="658368" y="347472"/>
            <a:ext cx="10477500" cy="54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3200" b="1">
                <a:solidFill>
                  <a:srgbClr val="981F2B"/>
                </a:solidFill>
                <a:latin typeface="微软雅黑"/>
                <a:ea typeface="微软雅黑"/>
              </a:rPr>
              <a:t>备餐选择会影响下一餐的可用食物</a:t>
            </a:r>
          </a:p>
        </p:txBody>
      </p:sp>
      <p:sp>
        <p:nvSpPr>
          <p:cNvPr id="3" name="页码">
            <a:extLst>
              <a:ext uri="{FF2B5EF4-FFF2-40B4-BE49-F238E27FC236}">
                <a16:creationId xmlns:a16="http://schemas.microsoft.com/office/drawing/2014/main" id="{6ABFCD1E-B39D-4973-B119-B9EE913C564B}"/>
              </a:ext>
            </a:extLst>
          </p:cNvPr>
          <p:cNvSpPr>
            <a:spLocks noGrp="1"/>
          </p:cNvSpPr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981F2B"/>
                </a:solidFill>
                <a:latin typeface="Times New Roman"/>
                <a:ea typeface="微软雅黑"/>
              </a:rPr>
              <a:t>21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29CECD0-54D6-47E5-B7E2-F74756B6EF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1485900"/>
            <a:ext cx="8096250" cy="4554141"/>
          </a:xfrm>
          <a:prstGeom prst="rect">
            <a:avLst/>
          </a:prstGeom>
        </p:spPr>
      </p:pic>
      <p:sp>
        <p:nvSpPr>
          <p:cNvPr id="5" name="重点说明">
            <a:extLst>
              <a:ext uri="{FF2B5EF4-FFF2-40B4-BE49-F238E27FC236}">
                <a16:creationId xmlns:a16="http://schemas.microsoft.com/office/drawing/2014/main" id="{E2D5CB14-CCDB-4500-BE35-F6680DEC8F7D}"/>
              </a:ext>
            </a:extLst>
          </p:cNvPr>
          <p:cNvSpPr>
            <a:spLocks noGrp="1"/>
          </p:cNvSpPr>
          <p:nvPr/>
        </p:nvSpPr>
        <p:spPr>
          <a:xfrm>
            <a:off x="9067800" y="1600200"/>
            <a:ext cx="2714625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2000" b="1">
                <a:solidFill>
                  <a:srgbClr val="981F2B"/>
                </a:solidFill>
                <a:latin typeface="微软雅黑"/>
                <a:ea typeface="微软雅黑"/>
              </a:rPr>
              <a:t>选择带来可见的后果</a:t>
            </a:r>
          </a:p>
        </p:txBody>
      </p:sp>
      <p:sp>
        <p:nvSpPr>
          <p:cNvPr id="6" name="讲解摘要">
            <a:extLst>
              <a:ext uri="{FF2B5EF4-FFF2-40B4-BE49-F238E27FC236}">
                <a16:creationId xmlns:a16="http://schemas.microsoft.com/office/drawing/2014/main" id="{E73E349F-83A1-4DEA-BF74-607CEDB90536}"/>
              </a:ext>
            </a:extLst>
          </p:cNvPr>
          <p:cNvSpPr>
            <a:spLocks noGrp="1"/>
          </p:cNvSpPr>
          <p:nvPr/>
        </p:nvSpPr>
        <p:spPr>
          <a:xfrm>
            <a:off x="9067800" y="2952750"/>
            <a:ext cx="2714625" cy="2952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defPPr>
            <a:lvl1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1pPr>
            <a:lvl2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2pPr>
            <a:lvl3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3pPr>
            <a:lvl4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4pPr>
            <a:lvl5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5pPr>
            <a:lvl6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6pPr>
            <a:lvl7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7pPr>
            <a:lvl8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8pPr>
            <a:lvl9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9pPr>
          </a:lstStyle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lang="zh-CN" altLang="en-US" sz="1800" b="0">
                <a:solidFill>
                  <a:srgbClr val="333333"/>
                </a:solidFill>
                <a:latin typeface="微软雅黑"/>
                <a:ea typeface="微软雅黑"/>
              </a:rPr>
              <a:t>只做当餐、另备冷藏和留在灶台，对应不同的后续库存状态。</a:t>
            </a:r>
          </a:p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endParaRPr lang="zh-CN" altLang="en-US" sz="1800" b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lang="zh-CN" altLang="en-US" sz="1800" b="0">
                <a:solidFill>
                  <a:srgbClr val="333333"/>
                </a:solidFill>
                <a:latin typeface="微软雅黑"/>
                <a:ea typeface="微软雅黑"/>
              </a:rPr>
              <a:t>界面同时提示份量和保存条件，让玩家在决策时考虑下一餐。</a:t>
            </a:r>
            <a:endParaRPr sz="1800" b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7" name="原模板页脚">
            <a:extLst>
              <a:ext uri="{FF2B5EF4-FFF2-40B4-BE49-F238E27FC236}">
                <a16:creationId xmlns:a16="http://schemas.microsoft.com/office/drawing/2014/main" id="{CBE97BA9-8D65-4408-9C0D-9B064767A83F}"/>
              </a:ext>
            </a:extLst>
          </p:cNvPr>
          <p:cNvSpPr>
            <a:spLocks noGrp="1"/>
          </p:cNvSpPr>
          <p:nvPr/>
        </p:nvSpPr>
        <p:spPr>
          <a:xfrm>
            <a:off x="685800" y="6510528"/>
            <a:ext cx="7620000" cy="201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A39292"/>
                </a:solidFill>
                <a:latin typeface="Times New Roman"/>
                <a:ea typeface="微软雅黑"/>
              </a:rPr>
              <a:t>04 / 游戏设计的阶段性落实</a:t>
            </a:r>
          </a:p>
        </p:txBody>
      </p:sp>
      <p:sp>
        <p:nvSpPr>
          <p:cNvPr id="10001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002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1084204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1745034-82A5-492C-B070-CC5835E78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原模板标题">
            <a:extLst>
              <a:ext uri="{FF2B5EF4-FFF2-40B4-BE49-F238E27FC236}">
                <a16:creationId xmlns:a16="http://schemas.microsoft.com/office/drawing/2014/main" id="{8555AD21-7D5A-451C-B2BF-53C9ACA59D86}"/>
              </a:ext>
            </a:extLst>
          </p:cNvPr>
          <p:cNvSpPr>
            <a:spLocks noGrp="1"/>
          </p:cNvSpPr>
          <p:nvPr/>
        </p:nvSpPr>
        <p:spPr>
          <a:xfrm>
            <a:off x="658368" y="347472"/>
            <a:ext cx="10477500" cy="54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3200" b="1">
                <a:solidFill>
                  <a:srgbClr val="981F2B"/>
                </a:solidFill>
                <a:latin typeface="微软雅黑"/>
                <a:ea typeface="微软雅黑"/>
              </a:rPr>
              <a:t>保存记录和系统限制共同提供判断依据</a:t>
            </a:r>
          </a:p>
        </p:txBody>
      </p:sp>
      <p:sp>
        <p:nvSpPr>
          <p:cNvPr id="3" name="页码">
            <a:extLst>
              <a:ext uri="{FF2B5EF4-FFF2-40B4-BE49-F238E27FC236}">
                <a16:creationId xmlns:a16="http://schemas.microsoft.com/office/drawing/2014/main" id="{5512024B-15F3-4E78-8B9F-04150A21F29A}"/>
              </a:ext>
            </a:extLst>
          </p:cNvPr>
          <p:cNvSpPr>
            <a:spLocks noGrp="1"/>
          </p:cNvSpPr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981F2B"/>
                </a:solidFill>
                <a:latin typeface="Times New Roman"/>
                <a:ea typeface="微软雅黑"/>
              </a:rPr>
              <a:t>22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83A0A4A-EE6D-46EC-9084-5B382B086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1485900"/>
            <a:ext cx="8096250" cy="4554141"/>
          </a:xfrm>
          <a:prstGeom prst="rect">
            <a:avLst/>
          </a:prstGeom>
        </p:spPr>
      </p:pic>
      <p:sp>
        <p:nvSpPr>
          <p:cNvPr id="5" name="重点说明">
            <a:extLst>
              <a:ext uri="{FF2B5EF4-FFF2-40B4-BE49-F238E27FC236}">
                <a16:creationId xmlns:a16="http://schemas.microsoft.com/office/drawing/2014/main" id="{DB867017-4DE1-4A32-8F06-E69D872F9A57}"/>
              </a:ext>
            </a:extLst>
          </p:cNvPr>
          <p:cNvSpPr>
            <a:spLocks noGrp="1"/>
          </p:cNvSpPr>
          <p:nvPr/>
        </p:nvSpPr>
        <p:spPr>
          <a:xfrm>
            <a:off x="9067800" y="1600200"/>
            <a:ext cx="2714625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2000" b="1">
                <a:solidFill>
                  <a:srgbClr val="981F2B"/>
                </a:solidFill>
                <a:latin typeface="微软雅黑"/>
                <a:ea typeface="微软雅黑"/>
              </a:rPr>
              <a:t>说明饭菜为何不可用</a:t>
            </a:r>
          </a:p>
        </p:txBody>
      </p:sp>
      <p:sp>
        <p:nvSpPr>
          <p:cNvPr id="6" name="讲解摘要">
            <a:extLst>
              <a:ext uri="{FF2B5EF4-FFF2-40B4-BE49-F238E27FC236}">
                <a16:creationId xmlns:a16="http://schemas.microsoft.com/office/drawing/2014/main" id="{5CF67B7A-743C-4720-BE64-0E0007094902}"/>
              </a:ext>
            </a:extLst>
          </p:cNvPr>
          <p:cNvSpPr>
            <a:spLocks noGrp="1"/>
          </p:cNvSpPr>
          <p:nvPr/>
        </p:nvSpPr>
        <p:spPr>
          <a:xfrm>
            <a:off x="9067800" y="2952750"/>
            <a:ext cx="2714625" cy="2952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defPPr>
            <a:lvl1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1pPr>
            <a:lvl2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2pPr>
            <a:lvl3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3pPr>
            <a:lvl4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4pPr>
            <a:lvl5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5pPr>
            <a:lvl6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6pPr>
            <a:lvl7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7pPr>
            <a:lvl8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8pPr>
            <a:lvl9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9pPr>
          </a:lstStyle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lang="zh-CN" altLang="en-US" sz="1800" b="0">
                <a:solidFill>
                  <a:srgbClr val="333333"/>
                </a:solidFill>
                <a:latin typeface="微软雅黑"/>
                <a:ea typeface="微软雅黑"/>
              </a:rPr>
              <a:t>库存保留时间、温度等保存记录，并区分待再热与待处理。</a:t>
            </a:r>
          </a:p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endParaRPr lang="zh-CN" altLang="en-US" sz="1800" b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lang="zh-CN" altLang="en-US" sz="1800" b="0">
                <a:solidFill>
                  <a:srgbClr val="333333"/>
                </a:solidFill>
                <a:latin typeface="微软雅黑"/>
                <a:ea typeface="微软雅黑"/>
              </a:rPr>
              <a:t>不符合保存条件的熟食不能进入餐盘，玩家需要依据保存经历判断。</a:t>
            </a:r>
            <a:endParaRPr sz="1800" b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7" name="原模板页脚">
            <a:extLst>
              <a:ext uri="{FF2B5EF4-FFF2-40B4-BE49-F238E27FC236}">
                <a16:creationId xmlns:a16="http://schemas.microsoft.com/office/drawing/2014/main" id="{F2DE1DDD-DBFF-4DCE-A7DD-64AD198C2285}"/>
              </a:ext>
            </a:extLst>
          </p:cNvPr>
          <p:cNvSpPr>
            <a:spLocks noGrp="1"/>
          </p:cNvSpPr>
          <p:nvPr/>
        </p:nvSpPr>
        <p:spPr>
          <a:xfrm>
            <a:off x="685800" y="6510528"/>
            <a:ext cx="7620000" cy="201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A39292"/>
                </a:solidFill>
                <a:latin typeface="Times New Roman"/>
                <a:ea typeface="微软雅黑"/>
              </a:rPr>
              <a:t>04 / 游戏设计的阶段性落实</a:t>
            </a:r>
          </a:p>
        </p:txBody>
      </p:sp>
      <p:sp>
        <p:nvSpPr>
          <p:cNvPr id="10001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002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468241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7D84F37E-C561-4C94-833E-776A3AB30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原模板标题">
            <a:extLst>
              <a:ext uri="{FF2B5EF4-FFF2-40B4-BE49-F238E27FC236}">
                <a16:creationId xmlns:a16="http://schemas.microsoft.com/office/drawing/2014/main" id="{FE9E4E3F-F8EA-4F97-AA69-B66BF8BBB4B1}"/>
              </a:ext>
            </a:extLst>
          </p:cNvPr>
          <p:cNvSpPr>
            <a:spLocks noGrp="1"/>
          </p:cNvSpPr>
          <p:nvPr/>
        </p:nvSpPr>
        <p:spPr>
          <a:xfrm>
            <a:off x="658368" y="347472"/>
            <a:ext cx="10477500" cy="54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3200" b="1">
                <a:solidFill>
                  <a:srgbClr val="981F2B"/>
                </a:solidFill>
                <a:latin typeface="微软雅黑"/>
                <a:ea typeface="微软雅黑"/>
              </a:rPr>
              <a:t>玩家根据反馈调整下一餐的安排</a:t>
            </a:r>
          </a:p>
        </p:txBody>
      </p:sp>
      <p:sp>
        <p:nvSpPr>
          <p:cNvPr id="3" name="页码">
            <a:extLst>
              <a:ext uri="{FF2B5EF4-FFF2-40B4-BE49-F238E27FC236}">
                <a16:creationId xmlns:a16="http://schemas.microsoft.com/office/drawing/2014/main" id="{FD7828C3-3991-4EDC-AEF2-E9A77D8CF667}"/>
              </a:ext>
            </a:extLst>
          </p:cNvPr>
          <p:cNvSpPr>
            <a:spLocks noGrp="1"/>
          </p:cNvSpPr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981F2B"/>
                </a:solidFill>
                <a:latin typeface="Times New Roman"/>
                <a:ea typeface="微软雅黑"/>
              </a:rPr>
              <a:t>23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76447EB-F8CA-4511-8661-D615E687B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1485900"/>
            <a:ext cx="8096250" cy="4554141"/>
          </a:xfrm>
          <a:prstGeom prst="rect">
            <a:avLst/>
          </a:prstGeom>
        </p:spPr>
      </p:pic>
      <p:sp>
        <p:nvSpPr>
          <p:cNvPr id="5" name="重点说明">
            <a:extLst>
              <a:ext uri="{FF2B5EF4-FFF2-40B4-BE49-F238E27FC236}">
                <a16:creationId xmlns:a16="http://schemas.microsoft.com/office/drawing/2014/main" id="{23D87A6B-CA48-45AB-A4DE-180A858CA113}"/>
              </a:ext>
            </a:extLst>
          </p:cNvPr>
          <p:cNvSpPr>
            <a:spLocks noGrp="1"/>
          </p:cNvSpPr>
          <p:nvPr/>
        </p:nvSpPr>
        <p:spPr>
          <a:xfrm>
            <a:off x="9067800" y="1600200"/>
            <a:ext cx="2714625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2000" b="1">
                <a:solidFill>
                  <a:srgbClr val="981F2B"/>
                </a:solidFill>
                <a:latin typeface="微软雅黑"/>
                <a:ea typeface="微软雅黑"/>
              </a:rPr>
              <a:t>反馈影响后续安排</a:t>
            </a:r>
          </a:p>
        </p:txBody>
      </p:sp>
      <p:sp>
        <p:nvSpPr>
          <p:cNvPr id="6" name="讲解摘要">
            <a:extLst>
              <a:ext uri="{FF2B5EF4-FFF2-40B4-BE49-F238E27FC236}">
                <a16:creationId xmlns:a16="http://schemas.microsoft.com/office/drawing/2014/main" id="{C038F85C-F800-4012-AEBA-385083E03894}"/>
              </a:ext>
            </a:extLst>
          </p:cNvPr>
          <p:cNvSpPr>
            <a:spLocks noGrp="1"/>
          </p:cNvSpPr>
          <p:nvPr/>
        </p:nvSpPr>
        <p:spPr>
          <a:xfrm>
            <a:off x="9067800" y="2952750"/>
            <a:ext cx="2714625" cy="2952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defPPr>
            <a:lvl1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1pPr>
            <a:lvl2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2pPr>
            <a:lvl3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3pPr>
            <a:lvl4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4pPr>
            <a:lvl5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5pPr>
            <a:lvl6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6pPr>
            <a:lvl7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7pPr>
            <a:lvl8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8pPr>
            <a:lvl9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9pPr>
          </a:lstStyle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lang="zh-CN" altLang="en-US" sz="1800" b="0">
                <a:solidFill>
                  <a:srgbClr val="333333"/>
                </a:solidFill>
                <a:latin typeface="微软雅黑"/>
                <a:ea typeface="微软雅黑"/>
              </a:rPr>
              <a:t>妥善留存的熟食可在下一餐按份取用，并在食用前彻底再热。</a:t>
            </a:r>
          </a:p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endParaRPr lang="zh-CN" altLang="en-US" sz="1800" b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lang="zh-CN" altLang="en-US" sz="1800" b="0">
                <a:solidFill>
                  <a:srgbClr val="333333"/>
                </a:solidFill>
                <a:latin typeface="微软雅黑"/>
                <a:ea typeface="微软雅黑"/>
              </a:rPr>
              <a:t>保存不当的饭菜应丢弃，玩家据此重新选餐或安排制作。</a:t>
            </a:r>
            <a:endParaRPr sz="1800" b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7" name="原模板页脚">
            <a:extLst>
              <a:ext uri="{FF2B5EF4-FFF2-40B4-BE49-F238E27FC236}">
                <a16:creationId xmlns:a16="http://schemas.microsoft.com/office/drawing/2014/main" id="{0306CADE-3E0C-420F-B654-68D3C74694F8}"/>
              </a:ext>
            </a:extLst>
          </p:cNvPr>
          <p:cNvSpPr>
            <a:spLocks noGrp="1"/>
          </p:cNvSpPr>
          <p:nvPr/>
        </p:nvSpPr>
        <p:spPr>
          <a:xfrm>
            <a:off x="685800" y="6510528"/>
            <a:ext cx="7620000" cy="201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A39292"/>
                </a:solidFill>
                <a:latin typeface="Times New Roman"/>
                <a:ea typeface="微软雅黑"/>
              </a:rPr>
              <a:t>04 / 游戏设计的阶段性落实</a:t>
            </a:r>
          </a:p>
        </p:txBody>
      </p:sp>
      <p:sp>
        <p:nvSpPr>
          <p:cNvPr id="10001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002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256506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EB1F9799-D08E-469D-8946-463C93899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原模板标题">
            <a:extLst>
              <a:ext uri="{FF2B5EF4-FFF2-40B4-BE49-F238E27FC236}">
                <a16:creationId xmlns:a16="http://schemas.microsoft.com/office/drawing/2014/main" id="{869A9D6A-1423-4019-8A34-DF15E44D65B1}"/>
              </a:ext>
            </a:extLst>
          </p:cNvPr>
          <p:cNvSpPr>
            <a:spLocks noGrp="1"/>
          </p:cNvSpPr>
          <p:nvPr/>
        </p:nvSpPr>
        <p:spPr>
          <a:xfrm>
            <a:off x="658368" y="347472"/>
            <a:ext cx="10477500" cy="54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3200" b="1">
                <a:solidFill>
                  <a:srgbClr val="981F2B"/>
                </a:solidFill>
                <a:latin typeface="微软雅黑"/>
                <a:ea typeface="微软雅黑"/>
              </a:rPr>
              <a:t>保存时间变化后，玩家需要重新判断</a:t>
            </a:r>
          </a:p>
        </p:txBody>
      </p:sp>
      <p:sp>
        <p:nvSpPr>
          <p:cNvPr id="3" name="页码">
            <a:extLst>
              <a:ext uri="{FF2B5EF4-FFF2-40B4-BE49-F238E27FC236}">
                <a16:creationId xmlns:a16="http://schemas.microsoft.com/office/drawing/2014/main" id="{F3852C82-11EB-48DE-9DED-D61761C83672}"/>
              </a:ext>
            </a:extLst>
          </p:cNvPr>
          <p:cNvSpPr>
            <a:spLocks noGrp="1"/>
          </p:cNvSpPr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981F2B"/>
                </a:solidFill>
                <a:latin typeface="Times New Roman"/>
                <a:ea typeface="微软雅黑"/>
              </a:rPr>
              <a:t>24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CEBD20F-3C9E-4D2B-B189-76156390C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1485900"/>
            <a:ext cx="8096250" cy="4554141"/>
          </a:xfrm>
          <a:prstGeom prst="rect">
            <a:avLst/>
          </a:prstGeom>
        </p:spPr>
      </p:pic>
      <p:sp>
        <p:nvSpPr>
          <p:cNvPr id="5" name="重点说明">
            <a:extLst>
              <a:ext uri="{FF2B5EF4-FFF2-40B4-BE49-F238E27FC236}">
                <a16:creationId xmlns:a16="http://schemas.microsoft.com/office/drawing/2014/main" id="{1D68076D-5457-4D15-93B9-938084EE8C6B}"/>
              </a:ext>
            </a:extLst>
          </p:cNvPr>
          <p:cNvSpPr>
            <a:spLocks noGrp="1"/>
          </p:cNvSpPr>
          <p:nvPr/>
        </p:nvSpPr>
        <p:spPr>
          <a:xfrm>
            <a:off x="9067800" y="1600200"/>
            <a:ext cx="2714625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2000" b="1">
                <a:solidFill>
                  <a:srgbClr val="981F2B"/>
                </a:solidFill>
                <a:latin typeface="微软雅黑"/>
                <a:ea typeface="微软雅黑"/>
              </a:rPr>
              <a:t>保存状态随日期更新</a:t>
            </a:r>
          </a:p>
        </p:txBody>
      </p:sp>
      <p:sp>
        <p:nvSpPr>
          <p:cNvPr id="6" name="讲解摘要">
            <a:extLst>
              <a:ext uri="{FF2B5EF4-FFF2-40B4-BE49-F238E27FC236}">
                <a16:creationId xmlns:a16="http://schemas.microsoft.com/office/drawing/2014/main" id="{36333A4A-2604-4409-8A8C-FF389AF7B760}"/>
              </a:ext>
            </a:extLst>
          </p:cNvPr>
          <p:cNvSpPr>
            <a:spLocks noGrp="1"/>
          </p:cNvSpPr>
          <p:nvPr/>
        </p:nvSpPr>
        <p:spPr>
          <a:xfrm>
            <a:off x="9067800" y="2952750"/>
            <a:ext cx="2714625" cy="2952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defPPr>
            <a:lvl1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1pPr>
            <a:lvl2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2pPr>
            <a:lvl3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3pPr>
            <a:lvl4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4pPr>
            <a:lvl5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5pPr>
            <a:lvl6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6pPr>
            <a:lvl7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7pPr>
            <a:lvl8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8pPr>
            <a:lvl9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9pPr>
          </a:lstStyle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lang="zh-CN" altLang="en-US" sz="1800" b="0">
                <a:solidFill>
                  <a:srgbClr val="333333"/>
                </a:solidFill>
                <a:latin typeface="微软雅黑"/>
                <a:ea typeface="微软雅黑"/>
              </a:rPr>
              <a:t>熟食的可用状态会随保存时间变化，冷藏后仍需持续查看。</a:t>
            </a:r>
          </a:p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endParaRPr lang="zh-CN" altLang="en-US" sz="1800" b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lang="zh-CN" altLang="en-US" sz="1800" b="0">
                <a:solidFill>
                  <a:srgbClr val="333333"/>
                </a:solidFill>
                <a:latin typeface="微软雅黑"/>
                <a:ea typeface="微软雅黑"/>
              </a:rPr>
              <a:t>玩家查看更新后的记录，再决定取用还是丢弃，并调整后续用餐。</a:t>
            </a:r>
            <a:endParaRPr sz="1800" b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7" name="原模板页脚">
            <a:extLst>
              <a:ext uri="{FF2B5EF4-FFF2-40B4-BE49-F238E27FC236}">
                <a16:creationId xmlns:a16="http://schemas.microsoft.com/office/drawing/2014/main" id="{443C48FC-4BAC-423A-B84C-F79571A3E9E2}"/>
              </a:ext>
            </a:extLst>
          </p:cNvPr>
          <p:cNvSpPr>
            <a:spLocks noGrp="1"/>
          </p:cNvSpPr>
          <p:nvPr/>
        </p:nvSpPr>
        <p:spPr>
          <a:xfrm>
            <a:off x="685800" y="6510528"/>
            <a:ext cx="7620000" cy="201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A39292"/>
                </a:solidFill>
                <a:latin typeface="Times New Roman"/>
                <a:ea typeface="微软雅黑"/>
              </a:rPr>
              <a:t>04 / 游戏设计的阶段性落实</a:t>
            </a:r>
          </a:p>
        </p:txBody>
      </p:sp>
      <p:sp>
        <p:nvSpPr>
          <p:cNvPr id="10001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002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290007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目前优势与问题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04 / 现状分析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目前可确认的设计成果</a:t>
            </a: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视频形成家庭疑问、机制解释和处理行动的叙事。</a:t>
            </a:r>
          </a:p>
          <a:p>
            <a:pPr marL="0" indent="0" algn="l">
              <a:buNone/>
            </a:pPr>
            <a:endParaRPr lang="zh-CN" altLang="en-US" sz="200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zh-CN" altLang="en-US" sz="2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游戏实现情境选择、保存记录与后续处置反馈。</a:t>
            </a:r>
          </a:p>
          <a:p>
            <a:pPr marL="0" indent="0" algn="l">
              <a:buNone/>
            </a:pPr>
            <a:endParaRPr lang="zh-CN" altLang="en-US" sz="200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zh-CN" altLang="en-US" sz="2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围绕同一主题，分别提供解释和操作机会。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目前仍待解决的不足</a:t>
            </a:r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视频部分片段被压缩，科普节奏需再次检查。</a:t>
            </a:r>
          </a:p>
          <a:p>
            <a:pPr marL="0" indent="0" algn="l">
              <a:buNone/>
            </a:pPr>
            <a:endParaRPr lang="zh-CN" altLang="en-US" sz="200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zh-CN" altLang="en-US" sz="2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游戏仍需复核提示、数值与反馈说明的准确性。</a:t>
            </a:r>
          </a:p>
          <a:p>
            <a:pPr marL="0" indent="0" algn="l">
              <a:buNone/>
            </a:pPr>
            <a:endParaRPr lang="zh-CN" altLang="en-US" sz="200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zh-CN" altLang="en-US" sz="2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尚未取得真实受众的理解、操作与迁移评价。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下一步如何改进：先保证准确，再谈效果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04 / 后续计划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6400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6400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8412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内容复核</a:t>
            </a: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8412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逐项核对室温放置、冷藏、复热与丢弃条件。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检查“原理示意”标识与科学边界。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45262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45262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47274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zh-CN" altLang="en-US" sz="2400" b="1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呈现优化</a:t>
            </a:r>
            <a:endParaRPr lang="en-US" sz="24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47274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检查视频节奏与游戏提示的可读性。</a:t>
            </a:r>
          </a:p>
          <a:p>
            <a:pPr marL="0" indent="0" algn="l">
              <a:buNone/>
            </a:pPr>
            <a:endParaRPr lang="zh-CN" altLang="en-US" sz="200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zh-CN" altLang="en-US" sz="2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调整对白、字幕及选择后的反馈说明。</a:t>
            </a:r>
            <a:endParaRPr lang="en-US" sz="2000" dirty="0"/>
          </a:p>
        </p:txBody>
      </p:sp>
      <p:sp>
        <p:nvSpPr>
          <p:cNvPr id="16" name="Shape 13"/>
          <p:cNvSpPr/>
          <p:nvPr>
            <p:custDataLst>
              <p:tags r:id="rId9"/>
            </p:custDataLst>
          </p:nvPr>
        </p:nvSpPr>
        <p:spPr>
          <a:xfrm>
            <a:off x="84124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7" name="Shape 14"/>
          <p:cNvSpPr/>
          <p:nvPr>
            <p:custDataLst>
              <p:tags r:id="rId10"/>
            </p:custDataLst>
          </p:nvPr>
        </p:nvSpPr>
        <p:spPr>
          <a:xfrm>
            <a:off x="84124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8" name="Text 15"/>
          <p:cNvSpPr/>
          <p:nvPr>
            <p:custDataLst>
              <p:tags r:id="rId11"/>
            </p:custDataLst>
          </p:nvPr>
        </p:nvSpPr>
        <p:spPr>
          <a:xfrm>
            <a:off x="86136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zh-CN" altLang="en-US" sz="2400" b="1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受众试用</a:t>
            </a:r>
            <a:endParaRPr lang="en-US" sz="24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6"/>
          <p:cNvSpPr/>
          <p:nvPr>
            <p:custDataLst>
              <p:tags r:id="rId12"/>
            </p:custDataLst>
          </p:nvPr>
        </p:nvSpPr>
        <p:spPr>
          <a:xfrm>
            <a:off x="86136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邀请目标受众试看视频、试用游戏。</a:t>
            </a:r>
          </a:p>
          <a:p>
            <a:pPr marL="0" indent="0" algn="l">
              <a:buNone/>
            </a:pPr>
            <a:endParaRPr lang="zh-CN" altLang="en-US" sz="200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zh-CN" altLang="en-US" sz="2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观察保存判断与操作选择，并据此调整材料。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思考提纲</a:t>
            </a:r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27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05 / 思考提纲</a:t>
            </a:r>
            <a:endParaRPr lang="en-US" sz="1600" dirty="0"/>
          </a:p>
        </p:txBody>
      </p:sp>
      <p:sp>
        <p:nvSpPr>
          <p:cNvPr id="17" name="文本框 16"/>
          <p:cNvSpPr txBox="1"/>
          <p:nvPr/>
        </p:nvSpPr>
        <p:spPr>
          <a:xfrm>
            <a:off x="974725" y="1323340"/>
            <a:ext cx="10326370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三</a:t>
            </a:r>
            <a:r>
              <a:rPr 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、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形式设计与传播适配思考</a:t>
            </a:r>
          </a:p>
          <a:p>
            <a:pPr marL="0" indent="0" algn="l">
              <a:buNone/>
            </a:pPr>
            <a:br>
              <a:rPr 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</a:b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1.选择的传播载体是什么？（海报/公众号/短视频/折页等）选择该载体的理由是什么？对新媒体的评价怎样？</a:t>
            </a:r>
            <a:br>
              <a:rPr lang="en-US" sz="16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</a:b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答：</a:t>
            </a: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剧情科普视频承担线性的信息传递：家庭疑问→机制解释→处置行动。配套游戏承担情境选择与反馈，视频不替代游戏功能。</a:t>
            </a:r>
          </a:p>
          <a:p>
            <a:pPr marL="0" indent="0" algn="l">
              <a:buNone/>
            </a:pPr>
            <a:endParaRPr lang="en-US" sz="16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 algn="l">
              <a:buNone/>
            </a:pP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2.在视觉、排版、结构、时长等形式设计上，如何贴合受众阅读/观看习惯？</a:t>
            </a:r>
          </a:p>
          <a:p>
            <a:pPr marL="0" indent="0" algn="l">
              <a:buNone/>
            </a:pP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答：</a:t>
            </a:r>
            <a:r>
              <a:rPr 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家庭部分写实、实验室部分可视化；使用短句、清楚字幕和单镜头主要动作。原设160秒；实际制作受额度影响，部分片段压缩，仍需检验观看节奏。</a:t>
            </a:r>
          </a:p>
          <a:p>
            <a:pPr marL="0" indent="0" algn="l">
              <a:buNone/>
            </a:pPr>
            <a:endParaRPr lang="en-US" sz="16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 algn="l">
              <a:buNone/>
            </a:pP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3.设计过程中，是否遇到“美观和实用冲突”“创意和科学冲突”的问题？具体如何取舍？</a:t>
            </a:r>
          </a:p>
          <a:p>
            <a:pPr marL="0" indent="0" algn="l">
              <a:buNone/>
            </a:pPr>
            <a:r>
              <a:rPr lang="zh-CN" altLang="en-US" sz="1600" dirty="0"/>
              <a:t>答：</a:t>
            </a:r>
            <a:r>
              <a:rPr 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不制造责备性代际争吵；不把微生物动画当真实证据。不让室温放了一夜的饭菜加热后被继续食用。</a:t>
            </a:r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4.目前材料在传播性、吸引力上有哪些优势和不足？</a:t>
            </a:r>
          </a:p>
          <a:p>
            <a:pPr marL="0" indent="0" algn="l">
              <a:buNone/>
            </a:pP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答：</a:t>
            </a:r>
            <a:r>
              <a:rPr 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优势：家庭场景与微观机制解释相结合，提供具体保存步骤。不足：家庭20秒、三项实验各15秒；科学解释节奏更紧凑，尚无受众评价。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思考提纲</a:t>
            </a:r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28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05 / 思考提纲</a:t>
            </a:r>
            <a:endParaRPr lang="en-US" sz="1600" dirty="0"/>
          </a:p>
        </p:txBody>
      </p:sp>
      <p:sp>
        <p:nvSpPr>
          <p:cNvPr id="17" name="文本框 16"/>
          <p:cNvSpPr txBox="1"/>
          <p:nvPr/>
        </p:nvSpPr>
        <p:spPr>
          <a:xfrm>
            <a:off x="974725" y="1323340"/>
            <a:ext cx="10326370" cy="4584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四、迭代修改与问题反思</a:t>
            </a:r>
          </a:p>
          <a:p>
            <a:pPr marL="0" indent="0" algn="l">
              <a:buNone/>
            </a:pPr>
            <a:br>
              <a:rPr 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</a:b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1.从初稿到定稿，修改了哪些内容？（知识点、排版、语言、结构、受众适配性等）</a:t>
            </a:r>
            <a:br>
              <a:rPr lang="en-US" sz="16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</a:b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答：剧本阶段修改矛盾点，</a:t>
            </a:r>
            <a:r>
              <a:rPr 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原160秒设计含家庭35秒、实验室70秒。由于制作资源限制，家庭疑问实际压缩至20秒，科学实验调整为每项15秒、合计45秒。</a:t>
            </a:r>
            <a:endParaRPr lang="en-US" sz="1600" dirty="0"/>
          </a:p>
          <a:p>
            <a:pPr marL="0" indent="0" algn="l">
              <a:buNone/>
            </a:pPr>
            <a:endParaRPr lang="en-US" sz="16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 algn="l">
              <a:buNone/>
            </a:pP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2.修改的原因是什么？（自我发现问题/带教老师指导/同学互评反馈）</a:t>
            </a:r>
          </a:p>
          <a:p>
            <a:pPr marL="0" indent="0" algn="l">
              <a:buNone/>
            </a:pP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答：</a:t>
            </a:r>
            <a:r>
              <a:rPr 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剧本阶段基于科普完整性和科学逻辑进行调整。视频制作阶段则受到即梦额度及会员限制，需优先保留能够传递主要知识的镜头。</a:t>
            </a:r>
            <a:endParaRPr lang="en-US" sz="1600" dirty="0"/>
          </a:p>
          <a:p>
            <a:pPr marL="0" indent="0" algn="l">
              <a:buNone/>
            </a:pPr>
            <a:endParaRPr lang="en-US" sz="16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 algn="l">
              <a:buNone/>
            </a:pP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3.本次创作中，出现过误区吗，是什么？（例如：重形式轻内容、自嗨式创作、忽略受众、理论脱离实践等）</a:t>
            </a:r>
          </a:p>
          <a:p>
            <a:pPr marL="0" indent="0" algn="l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答：</a:t>
            </a:r>
            <a:r>
              <a:rPr 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重视觉轻科学；以年轻人偏好的表现替代受众适配；把AI成片等同传播成功。因此坚持先确定信息、再决定画面，并保留审核环节。</a:t>
            </a:r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4.整个制作过程中，最难解决的问题是什么？最终的解决方式与效果如何？</a:t>
            </a:r>
          </a:p>
          <a:p>
            <a:pPr marL="0" indent="0" algn="l">
              <a:buNone/>
            </a:pP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答：</a:t>
            </a:r>
            <a:r>
              <a:rPr 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有限额度与时长下，如何保留剧情、科普解释和正确动作？通过压缩开场、将实验改为每项15秒实现初稿；效果仍需后续试看核对。</a:t>
            </a:r>
            <a:endParaRPr lang="en-US" sz="1600" dirty="0"/>
          </a:p>
          <a:p>
            <a:pPr marL="0" indent="0" algn="l">
              <a:buNone/>
            </a:pP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致谢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29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1985" y="2780665"/>
            <a:ext cx="1065276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感谢老师</a:t>
            </a: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同学</a:t>
            </a: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批评与指导</a:t>
            </a: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！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622969" y="5494929"/>
            <a:ext cx="9216572" cy="650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汇报小组：</a:t>
            </a:r>
            <a:r>
              <a:rPr lang="en-US" altLang="zh-CN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3</a:t>
            </a: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大组第</a:t>
            </a:r>
            <a:r>
              <a:rPr lang="en-US" altLang="zh-CN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1</a:t>
            </a: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小组</a:t>
            </a:r>
            <a:r>
              <a:rPr lang="en-US" altLang="zh-CN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					    </a:t>
            </a: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时间：</a:t>
            </a:r>
            <a:r>
              <a:rPr lang="en-US" altLang="zh-CN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2026</a:t>
            </a: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年</a:t>
            </a:r>
            <a:r>
              <a:rPr lang="en-US" altLang="zh-CN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10</a:t>
            </a: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月</a:t>
            </a:r>
            <a:r>
              <a:rPr lang="en-US" altLang="zh-CN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27</a:t>
            </a: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日</a:t>
            </a:r>
          </a:p>
          <a:p>
            <a:pPr algn="l">
              <a:lnSpc>
                <a:spcPct val="130000"/>
              </a:lnSpc>
            </a:pP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组员：</a:t>
            </a:r>
            <a:r>
              <a:rPr lang="en-US" sz="14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王歆尧  田伦荣益  李文鹏  李嘉辉</a:t>
            </a:r>
            <a:r>
              <a:rPr lang="en-US" altLang="zh-CN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			</a:t>
            </a:r>
            <a:endParaRPr lang="zh-CN" altLang="en-US" sz="1400" b="1" spc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1997</Words>
  <Application>Microsoft Office PowerPoint</Application>
  <PresentationFormat>宽屏</PresentationFormat>
  <Paragraphs>349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4" baseType="lpstr">
      <vt:lpstr>Microsoft YaHei</vt:lpstr>
      <vt:lpstr>Microsoft YaHei</vt:lpstr>
      <vt:lpstr>Arial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隔夜食验室 第二次汇报</dc:title>
  <dc:subject>公共卫生传播学第二次汇报</dc:subject>
  <dc:creator>OpenAI</dc:creator>
  <cp:lastModifiedBy>歆尧 王</cp:lastModifiedBy>
  <cp:revision>3</cp:revision>
  <dcterms:created xsi:type="dcterms:W3CDTF">2026-10-26T14:06:00Z</dcterms:created>
  <dcterms:modified xsi:type="dcterms:W3CDTF">2026-10-27T02:31:44Z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1A59AB9D84104BCCA4F70A7C1C57907A_12</vt:lpwstr>
  </property>
</Properties>
</file>