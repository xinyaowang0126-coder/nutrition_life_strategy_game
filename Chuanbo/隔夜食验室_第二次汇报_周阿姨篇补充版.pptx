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7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8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9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5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27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73" r:id="rId28"/>
    <p:sldId id="274" r:id="rId29"/>
    <p:sldId id="287" r:id="rId30"/>
    <p:sldId id="288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1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看完视频，我们再展示同一主题的配套游戏案例。在周阿姨篇中，玩家一边安排三餐和练歌，一边处理家中的饭菜。这里关注的仍是剩菜剩饭怎样留、怎样吃、何时丢。</a:t>
            </a:r>
          </a:p>
          <a:p>
            <a:endParaRPr/>
          </a:p>
          <a:p>
            <a:r>
              <a:t>第一步发生在做饭之前。选择“只做当餐”，界面显示当餐一人份、共做一份，米、豆腐和青菜都按这一餐计算。我们希望玩家先考虑实际需要，再决定是否多做。</a:t>
            </a:r>
          </a:p>
          <a:p>
            <a:endParaRPr/>
          </a:p>
          <a:p>
            <a:r>
              <a:t>资料与图片来源：本项目实际游戏截图。CookingPlanStage.gd 的 eat_now 分支。</a:t>
            </a:r>
          </a:p>
          <a:p>
            <a:r>
              <a:t>截图：E:\nutrition_life_strategy_game\docs\assets\choir-leftovers-showcase-2026-10-27\01-cook-only-this-meal.png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0113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如果约老陈来家里吃饭，当餐就需要准备两人份。再选择另备一份冷藏，界面会明确显示本次共做三份，所需食材也随之增加。</a:t>
            </a:r>
          </a:p>
          <a:p>
            <a:endParaRPr/>
          </a:p>
          <a:p>
            <a:r>
              <a:t>这个设计把两个问题分开：这一餐有几个人吃，下一餐准备留多少。玩家在做饭时就能核对份量，减少没有计划地多做。</a:t>
            </a:r>
          </a:p>
          <a:p>
            <a:endParaRPr/>
          </a:p>
          <a:p>
            <a:r>
              <a:t>资料与图片来源：本项目实际游戏截图。SharedMealPlan.gd 与 CookingPlanStage.gd 的人数和留存计算。</a:t>
            </a:r>
          </a:p>
          <a:p>
            <a:r>
              <a:t>截图：E:\nutrition_life_strategy_game\docs\assets\choir-leftovers-showcase-2026-10-27\09-two-people-plus-one-saved.png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8430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选择“另备一份冷藏”后，界面会同时显示增加的食材、调味料和保存要求。这份饭菜计划留到下一餐，在上桌前就分出，再按关卡条件及时放入冰箱。</a:t>
            </a:r>
          </a:p>
          <a:p>
            <a:endParaRPr/>
          </a:p>
          <a:p>
            <a:r>
              <a:t>这里的一小时内放入四摄氏度冰箱，是本关设置的具体演练条件。所采用的食安资料强调尽快分装冷却，并在两小时内冷藏。界面还用游戏精力说明备餐的便利，让玩家同时考虑后续需要和保存责任。</a:t>
            </a:r>
          </a:p>
          <a:p>
            <a:endParaRPr/>
          </a:p>
          <a:p>
            <a:r>
              <a:t>资料与图片来源：本项目实际游戏截图。CookingPlanStage.gd 与 KitchenStock.gd。科普依据：https://www.cfs.gov.hk/sc_chi/consumer_zone/safefood_all/five_keys_apply_leftovers.html 。1小时为关卡示例，资料建议尽快冷却并于2小时内冷藏。6、1、7、12均为游戏精力刻度。</a:t>
            </a:r>
          </a:p>
          <a:p>
            <a:r>
              <a:t>截图：E:\nutrition_life_strategy_game\docs\assets\choir-leftovers-showcase-2026-10-27\02-cook-save-one-cold.png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9199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配方页也保留了“留在灶台”这个选择。点击之后，界面会用红色提示说明：本关到下一餐经过五小时，保存不当的留存份不能继续使用，届时应丢弃。</a:t>
            </a:r>
          </a:p>
          <a:p>
            <a:endParaRPr/>
          </a:p>
          <a:p>
            <a:r>
              <a:t>玩家能够在作选择时看到风险，也能够在之后的库存里看到实际后果。这样，保存方式就成为影响下一餐的一次具体判断。</a:t>
            </a:r>
          </a:p>
          <a:p>
            <a:endParaRPr/>
          </a:p>
          <a:p>
            <a:r>
              <a:t>资料与图片来源：本项目实际游戏截图。counter 分支在下一餐形成 danger_minutes=300 的待处理批次。科普依据：https://www.cfs.gov.hk/sc_chi/consumer_zone/safefood_all/five_keys_apply_leftovers.html 。</a:t>
            </a:r>
          </a:p>
          <a:p>
            <a:r>
              <a:t>截图：E:\nutrition_life_strategy_game\docs\assets\choir-leftovers-showcase-2026-10-27\03-cook-counter-warning.png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29706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正确选择冷藏后，下一餐打开库存，米饭和菜会进入“冷藏待再热”。展开米饭的详情，可以看到上桌前用清洁浅盒分装、放入冰箱并连续冷藏的记录。</a:t>
            </a:r>
          </a:p>
          <a:p>
            <a:endParaRPr/>
          </a:p>
          <a:p>
            <a:r>
              <a:t>这让前一餐和下一餐连起来。玩家需要查看这份熟食经历了怎样的保存过程，再决定能不能把它选进这一餐。画面中的两份库存，分别是一份米饭和一份菜。</a:t>
            </a:r>
          </a:p>
          <a:p>
            <a:endParaRPr/>
          </a:p>
          <a:p>
            <a:r>
              <a:t>资料与图片来源：本项目实际游戏截图。KitchenStockStage.gd 展示 KitchenStock.gd 记录的保存史。</a:t>
            </a:r>
          </a:p>
          <a:p>
            <a:r>
              <a:t>截图：E:\nutrition_life_strategy_game\docs\assets\choir-leftovers-showcase-2026-10-27\04-cold-leftovers-history.png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59615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接下来，玩家从符合关卡保存条件的熟食中选择这一餐要吃的米饭和菜，点击“再热并开饭”。界面会提示熟食需要彻底再热一次。</a:t>
            </a:r>
          </a:p>
          <a:p>
            <a:endParaRPr/>
          </a:p>
          <a:p>
            <a:r>
              <a:t>确认之后，系统记录一次再热食用，并扣除取出的那份库存。这个环节强调按当餐份量取用，避免反复处理同一份熟食。彻底再热的温度条件，也可以在后面的科普参考中回看。</a:t>
            </a:r>
          </a:p>
          <a:p>
            <a:endParaRPr/>
          </a:p>
          <a:p>
            <a:r>
              <a:t>资料与图片来源：本项目实际游戏截图。HouseholdMealStage.gd 与 KitchenStock.consume，记录 reheat_count=1 并消耗1份。科普依据：https://www.cfs.gov.hk/sc_chi/consumer_zone/packed_meals.html 。</a:t>
            </a:r>
          </a:p>
          <a:p>
            <a:r>
              <a:t>截图：E:\nutrition_life_strategy_game\docs\assets\choir-leftovers-showcase-2026-10-27\05-reheat-and-eat.png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43026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这是另一条操作路线的结果。前面选择把饭菜留在灶台，到午餐时，米饭和菜都被标为“保存不当，应丢弃”。详情写明已经过五小时，未保持安全温度。</a:t>
            </a:r>
          </a:p>
          <a:p>
            <a:endParaRPr/>
          </a:p>
          <a:p>
            <a:r>
              <a:t>这些饭菜不会成为可食用库存，玩家需要逐份清理。这样，配方页上的风险提示就落实到了后续操作，也回应了视频中不能靠再次加热来补救保存不当饭菜的主题。</a:t>
            </a:r>
          </a:p>
          <a:p>
            <a:endParaRPr/>
          </a:p>
          <a:p>
            <a:r>
              <a:t>资料与图片来源：本项目实际游戏截图。KitchenStock.classify 和 discard 分支。科普依据：https://www.cfs.gov.hk/sc_chi/consumer_zone/safefood_all/five_keys_apply_leftovers.html 。</a:t>
            </a:r>
          </a:p>
          <a:p>
            <a:r>
              <a:t>截图：E:\nutrition_life_strategy_game\docs\assets\choir-leftovers-showcase-2026-10-27\07-counter-leftovers-need-discard.png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74483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把饭菜放进冰箱之后，仍然需要管理时间。这张画面里，第一个早晨留存的米饭和菜一直没有取用，推进到第五天，系统显示“冷藏已超过三天，应丢弃”。</a:t>
            </a:r>
          </a:p>
          <a:p>
            <a:endParaRPr/>
          </a:p>
          <a:p>
            <a:r>
              <a:t>这采用了本关参考资料中的通用说明，用来演示保存状态怎样随日期变化。玩家需要持续查看留存的饭菜，及时安排食用或处理。</a:t>
            </a:r>
          </a:p>
          <a:p>
            <a:endParaRPr/>
          </a:p>
          <a:p>
            <a:r>
              <a:t>资料与图片来源：本项目实际游戏截图。真实推进至第5天后的库存状态。科普依据：https://www.cfs.gov.hk/sc_chi/consumer_zone/safefood_all/five_keys_apply_leftovers.html 。这里呈现本关采用的超时判定，并不表示期限内所有食物在任何条件下都安全。</a:t>
            </a:r>
          </a:p>
          <a:p>
            <a:r>
              <a:t>截图：E:\nutrition_life_strategy_game\docs\assets\choir-leftovers-showcase-2026-10-27\10-cold-storage-time-limit.png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68792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最后，记事本中的“雨天的小份备餐”把本关采用的处理条件集中列出，包括分装冷藏、食用前按份彻底再热，以及保存超时后的处置。玩家遇到具体选择后，可以再回来核对依据。</a:t>
            </a:r>
          </a:p>
          <a:p>
            <a:endParaRPr/>
          </a:p>
          <a:p>
            <a:r>
              <a:t>这组游戏案例补充了视频中的行动示范，让观众有机会自己作选择、查看结果。现在能够展示的是已经实现的原型和操作流程，是否真正帮助目标受众理解和迁移，还需要通过后续试用来检验。下面接回对现有作品的优势、不足和改进计划的讨论。</a:t>
            </a:r>
          </a:p>
          <a:p>
            <a:endParaRPr/>
          </a:p>
          <a:p>
            <a:r>
              <a:t>资料与图片来源：本项目实际游戏截图。StoryEducation.gd 第6天课程。科普依据：https://www.cfs.gov.hk/sc_chi/consumer_zone/safefood_all/five_keys_apply_leftovers.html 与 https://www.cfs.gov.hk/sc_chi/consumer_zone/packed_meals.html 。功能实现不等于传播效果已经验证。</a:t>
            </a:r>
          </a:p>
          <a:p>
            <a:r>
              <a:t>截图：E:\nutrition_life_strategy_game\docs\assets\choir-leftovers-showcase-2026-10-27\11-leftovers-reference.png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09669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87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image" Target="../media/image1.png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1.png"/><Relationship Id="rId5" Type="http://schemas.openxmlformats.org/officeDocument/2006/relationships/tags" Target="../tags/tag29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28.xml"/><Relationship Id="rId9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image" Target="../media/image1.png"/><Relationship Id="rId5" Type="http://schemas.openxmlformats.org/officeDocument/2006/relationships/tags" Target="../tags/tag37.xml"/><Relationship Id="rId10" Type="http://schemas.openxmlformats.org/officeDocument/2006/relationships/notesSlide" Target="../notesSlides/notesSlide8.xml"/><Relationship Id="rId4" Type="http://schemas.openxmlformats.org/officeDocument/2006/relationships/tags" Target="../tags/tag36.xml"/><Relationship Id="rId9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1.png"/><Relationship Id="rId5" Type="http://schemas.openxmlformats.org/officeDocument/2006/relationships/tags" Target="../tags/tag45.xml"/><Relationship Id="rId10" Type="http://schemas.openxmlformats.org/officeDocument/2006/relationships/notesSlide" Target="../notesSlides/notesSlide9.xml"/><Relationship Id="rId4" Type="http://schemas.openxmlformats.org/officeDocument/2006/relationships/tags" Target="../tags/tag44.xml"/><Relationship Id="rId9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image" Target="../media/image1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53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1.png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notesSlide" Target="../notesSlides/notesSlide11.xml"/><Relationship Id="rId2" Type="http://schemas.openxmlformats.org/officeDocument/2006/relationships/tags" Target="../tags/tag59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1.png"/><Relationship Id="rId5" Type="http://schemas.openxmlformats.org/officeDocument/2006/relationships/tags" Target="../tags/tag77.xml"/><Relationship Id="rId10" Type="http://schemas.openxmlformats.org/officeDocument/2006/relationships/notesSlide" Target="../notesSlides/notesSlide13.xml"/><Relationship Id="rId4" Type="http://schemas.openxmlformats.org/officeDocument/2006/relationships/tags" Target="../tags/tag76.xml"/><Relationship Id="rId9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1.png"/><Relationship Id="rId5" Type="http://schemas.openxmlformats.org/officeDocument/2006/relationships/tags" Target="../tags/tag85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84.xml"/><Relationship Id="rId9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.png"/><Relationship Id="rId5" Type="http://schemas.openxmlformats.org/officeDocument/2006/relationships/tags" Target="../tags/tag93.xml"/><Relationship Id="rId10" Type="http://schemas.openxmlformats.org/officeDocument/2006/relationships/notesSlide" Target="../notesSlides/notesSlide16.xml"/><Relationship Id="rId4" Type="http://schemas.openxmlformats.org/officeDocument/2006/relationships/tags" Target="../tags/tag92.xml"/><Relationship Id="rId9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1.png"/><Relationship Id="rId5" Type="http://schemas.openxmlformats.org/officeDocument/2006/relationships/tags" Target="../tags/tag101.xml"/><Relationship Id="rId10" Type="http://schemas.openxmlformats.org/officeDocument/2006/relationships/notesSlide" Target="../notesSlides/notesSlide27.xml"/><Relationship Id="rId4" Type="http://schemas.openxmlformats.org/officeDocument/2006/relationships/tags" Target="../tags/tag100.xml"/><Relationship Id="rId9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image" Target="../media/image1.png"/><Relationship Id="rId10" Type="http://schemas.openxmlformats.org/officeDocument/2006/relationships/tags" Target="../tags/tag114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94560"/>
            <a:ext cx="12191695" cy="20574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40487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隔夜“食”验室</a:t>
            </a:r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10698480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从传播方案到AI科普视频初稿</a:t>
            </a:r>
          </a:p>
        </p:txBody>
      </p:sp>
      <p:sp>
        <p:nvSpPr>
          <p:cNvPr id="7" name="Text 4"/>
          <p:cNvSpPr/>
          <p:nvPr/>
        </p:nvSpPr>
        <p:spPr>
          <a:xfrm>
            <a:off x="914400" y="4582795"/>
            <a:ext cx="10332720" cy="16649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三大组</a:t>
            </a: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第一小组：</a:t>
            </a: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王歆尧  田伦荣益  李文鹏  李嘉辉</a:t>
            </a:r>
          </a:p>
          <a:p>
            <a:pPr marL="0" indent="0" algn="ctr">
              <a:buNone/>
            </a:pPr>
            <a:b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2000" b="1" dirty="0">
                <a:solidFill>
                  <a:srgbClr val="262626"/>
                </a:solidFill>
                <a:latin typeface="Times New Roman" panose="02020603050405020304" pitchFamily="34" charset="0"/>
                <a:ea typeface="微软雅黑" panose="020B0503020204020204" pitchFamily="34" charset="-122"/>
                <a:cs typeface="Times New Roman" panose="02020603050405020304" pitchFamily="34" charset="0"/>
              </a:rPr>
              <a:t>2026-10-27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目录：从构想到成片的五个阶段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26187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066544" y="1261872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延续第一次方案，形成完整剧本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057400" y="1901952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1945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2066544" y="2194560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剧本设计：问题与三次取舍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057400" y="2834640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12724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066544" y="3127248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AI制作：现实困难与压缩迭代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057400" y="3767328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05993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2066544" y="4059936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初版成果与当前不足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057400" y="4700016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99262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2066544" y="4992624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实习思考提纲：全过程复盘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057400" y="5632704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第一次汇报留下的核心方案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定位与受众</a:t>
            </a:r>
          </a:p>
        </p:txBody>
      </p:sp>
      <p:sp>
        <p:nvSpPr>
          <p:cNvPr id="11" name="Text 8"/>
          <p:cNvSpPr/>
          <p:nvPr/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面向45岁及以上家庭食品处理者，也兼顾年轻家庭成员。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不否定节约观念，关注时间、温度、保存与处理条件。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传播目标与形式</a:t>
            </a:r>
          </a:p>
        </p:txBody>
      </p:sp>
      <p:sp>
        <p:nvSpPr>
          <p:cNvPr id="15" name="Text 12"/>
          <p:cNvSpPr/>
          <p:nvPr/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纠正“隔夜必然有害”和“加热必然安全”的简单判断。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原定形式：家庭情境 → 微观解释 → 现实处理。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剧本设计的第一步：先把传播目标变成故事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主人公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周阿姨：重视节约，有生活经验的家庭食品处理者。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小林：关心母亲，善于提问的年轻家人。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核心冲突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一盘室温放了一夜的饭菜，究竟还能不能吃？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争议集中于保存条件，不是代际对立。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转变过程</a:t>
            </a:r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家庭提出疑问 → 进入“食”验室寻找解释 → 返回现实做出处理选择。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原剧本：160秒，家庭—实验—行动完整闭环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 / 剧本结构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856232"/>
            <a:ext cx="2296287" cy="749808"/>
          </a:xfrm>
          <a:prstGeom prst="rect">
            <a:avLst/>
          </a:prstGeom>
          <a:solidFill>
            <a:srgbClr val="C18D75"/>
          </a:solidFill>
          <a:ln w="12700">
            <a:solidFill>
              <a:srgbClr val="C18D7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19247" y="1856232"/>
            <a:ext cx="656082" cy="749808"/>
          </a:xfrm>
          <a:prstGeom prst="rect">
            <a:avLst/>
          </a:prstGeom>
          <a:solidFill>
            <a:srgbClr val="D5AB71"/>
          </a:solidFill>
          <a:ln w="12700">
            <a:solidFill>
              <a:srgbClr val="D5AB7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75329" y="1856232"/>
            <a:ext cx="4592574" cy="749808"/>
          </a:xfrm>
          <a:prstGeom prst="rect">
            <a:avLst/>
          </a:prstGeom>
          <a:solidFill>
            <a:srgbClr val="698DAB"/>
          </a:solidFill>
          <a:ln w="12700">
            <a:solidFill>
              <a:srgbClr val="698DA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67903" y="1856232"/>
            <a:ext cx="2296287" cy="749808"/>
          </a:xfrm>
          <a:prstGeom prst="rect">
            <a:avLst/>
          </a:prstGeom>
          <a:solidFill>
            <a:srgbClr val="83A28E"/>
          </a:solidFill>
          <a:ln w="12700">
            <a:solidFill>
              <a:srgbClr val="83A28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64190" y="1856232"/>
            <a:ext cx="656082" cy="749808"/>
          </a:xfrm>
          <a:prstGeom prst="rect">
            <a:avLst/>
          </a:prstGeom>
          <a:solidFill>
            <a:srgbClr val="BC7480"/>
          </a:solidFill>
          <a:ln w="12700">
            <a:solidFill>
              <a:srgbClr val="BC74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944368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  35秒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82512" y="2944368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微观转场  10秒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96112" y="3712464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  70秒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82512" y="3712464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现实处理  35秒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96112" y="4480560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  10秒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77824" y="5650992"/>
            <a:ext cx="105156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计划包含30个分镜，科普部分安排三项实验。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剧本的三项科学实验：各承担什么任务？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 / 科普内容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实验一：时间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回应“过了一夜就危险吗？”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解释熟食室温久放时部分微生物可能繁殖，强调放置时间。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实验二：温度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对比常温与及时冷藏。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冷藏可减缓繁殖，不等于灭菌，也不是无限期保存。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实验三：复热</a:t>
            </a:r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回应“热透就一定安全吗？”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解释充分复热的作用及部分耐热毒素的局限。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一：如何有戏剧性，却不制造说教？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最初的张力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母女在“省下饭菜”与“注意食品安全”之间存在分歧。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若靠争吵和责备制造冲突，可能把核心受众放在错误一方。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最终的处理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小林先询问保存经历，不直接批评。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周阿姨通过解释主动判断，节约观念被尊重，改变的是处理方式。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二：如何兼顾短剧节奏与科普深度？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创作中发现的问题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如果实验室只是一段视觉转场，观众只会看到微生物特效。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如果一次灌输过多术语，又可能影响中老年人的理解。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原剧本的解决方式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原设70秒科学解释，分为时间、温度、复热三层。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每段先提问、再示意、最后给出可理解的结论。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三：温馨结局不能牺牲科学性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剧情逻辑的风险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如果开头饭菜室温放了一夜，结尾却加热后继续吃，会直接削弱此前科普。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观众容易误以为“热一下就能补救”。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采取的解决办法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周阿姨决定丢弃保存明显不当的饭菜。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再切到当天新做饭菜分装冷藏，次日确认保存妥当后复热。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剧本取舍总结：三个矛盾，三条原则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方法论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85800" y="138988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914400" y="150876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冲突与共情</a:t>
            </a:r>
            <a:endParaRPr lang="en-US" sz="2000" dirty="0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4187952" y="149961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用家庭疑问替代指责性争吵：先承认节约动机，再引导判断。</a:t>
            </a:r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685800" y="289864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914400" y="301752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节奏与解释</a:t>
            </a:r>
            <a:endParaRPr lang="en-US" sz="20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4187952" y="300837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先设计足够的科普时间：时间、温度、复热分别说明。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685800" y="440740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914400" y="452628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情节与科学</a:t>
            </a:r>
            <a:endParaRPr lang="en-US" sz="2000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4187952" y="451713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保存不当的食物不再食用，另设场景演示正确操作。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从剧本进入AI制作：实际工作流程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视频制作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576072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704088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文本剧本</a:t>
            </a:r>
            <a:endParaRPr lang="en-US" sz="2000" dirty="0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713232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确定对白、行为与核心科学信息</a:t>
            </a:r>
            <a:endParaRPr lang="en-US" sz="200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2916936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3044952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逐镜提示词</a:t>
            </a:r>
            <a:endParaRPr lang="en-US" sz="20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3054096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拆成可生成的单镜头动作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5257800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5385816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即梦AI</a:t>
            </a:r>
            <a:endParaRPr lang="en-US" sz="2000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5394960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生成参考图及图生视频素材</a:t>
            </a:r>
            <a:endParaRPr lang="en-US" sz="2000" dirty="0"/>
          </a:p>
        </p:txBody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7598664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7726680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剪映</a:t>
            </a:r>
            <a:endParaRPr lang="en-US" sz="2000" dirty="0"/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7735824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拼接镜头、配音、字幕、科学信息</a:t>
            </a:r>
            <a:endParaRPr lang="en-US" sz="2000" dirty="0"/>
          </a:p>
        </p:txBody>
      </p:sp>
      <p:sp>
        <p:nvSpPr>
          <p:cNvPr id="20" name="Shape 17"/>
          <p:cNvSpPr/>
          <p:nvPr>
            <p:custDataLst>
              <p:tags r:id="rId13"/>
            </p:custDataLst>
          </p:nvPr>
        </p:nvSpPr>
        <p:spPr>
          <a:xfrm>
            <a:off x="9939528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21" name="Text 18"/>
          <p:cNvSpPr/>
          <p:nvPr>
            <p:custDataLst>
              <p:tags r:id="rId14"/>
            </p:custDataLst>
          </p:nvPr>
        </p:nvSpPr>
        <p:spPr>
          <a:xfrm>
            <a:off x="10067544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人工核对</a:t>
            </a:r>
            <a:endParaRPr lang="en-US" sz="2000" dirty="0"/>
          </a:p>
        </p:txBody>
      </p:sp>
      <p:sp>
        <p:nvSpPr>
          <p:cNvPr id="22" name="Text 19"/>
          <p:cNvSpPr/>
          <p:nvPr>
            <p:custDataLst>
              <p:tags r:id="rId15"/>
            </p:custDataLst>
          </p:nvPr>
        </p:nvSpPr>
        <p:spPr>
          <a:xfrm>
            <a:off x="10076688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检查剧情、科学示意及连续性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实际制作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</a:t>
            </a:r>
            <a:r>
              <a:rPr lang="en-US" altLang="zh-CN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制作过程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02360" y="1147445"/>
            <a:ext cx="10009505" cy="5208905"/>
          </a:xfrm>
          <a:prstGeom prst="roundRect">
            <a:avLst>
              <a:gd name="adj" fmla="val 1656"/>
            </a:avLst>
          </a:prstGeom>
          <a:solidFill>
            <a:srgbClr val="FBF8F7"/>
          </a:solidFill>
          <a:ln w="12700">
            <a:solidFill>
              <a:srgbClr val="C4A5A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940" y="1353820"/>
            <a:ext cx="4415790" cy="23793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905" y="1351915"/>
            <a:ext cx="5038725" cy="47923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4940" y="3733165"/>
            <a:ext cx="4418965" cy="24110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制作阶段遇到的新问题：资源有限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现实限制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具体约束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即梦AI生成额度与会员限制，无法按原计划充分生成所有镜头及尝试版本。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制作资源不只影响数量，还影响返工余地。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我们采取的调整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优先保留能够承载核心科普信息的内容。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压缩部分剧情铺垫与实验展示，以现有生成素材完成初版。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可量化的压缩：原剧本与初版对照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迭代修改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15727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154680" y="1572768"/>
            <a:ext cx="3611880" cy="393192"/>
          </a:xfrm>
          <a:prstGeom prst="rect">
            <a:avLst/>
          </a:prstGeom>
          <a:solidFill>
            <a:srgbClr val="E5D5D0"/>
          </a:solidFill>
          <a:ln w="12700">
            <a:solidFill>
              <a:srgbClr val="E5D5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4680" y="2112264"/>
            <a:ext cx="2063931" cy="393192"/>
          </a:xfrm>
          <a:prstGeom prst="rect">
            <a:avLst/>
          </a:prstGeom>
          <a:solidFill>
            <a:srgbClr val="A44A52"/>
          </a:solidFill>
          <a:ln w="12700">
            <a:solidFill>
              <a:srgbClr val="A44A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82112" y="2560320"/>
            <a:ext cx="5212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35 s  →  20 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41248" y="31729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154680" y="3172968"/>
            <a:ext cx="7223760" cy="393192"/>
          </a:xfrm>
          <a:prstGeom prst="rect">
            <a:avLst/>
          </a:prstGeom>
          <a:solidFill>
            <a:srgbClr val="E5D5D0"/>
          </a:solidFill>
          <a:ln w="12700">
            <a:solidFill>
              <a:srgbClr val="E5D5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3712464"/>
            <a:ext cx="4643846" cy="393192"/>
          </a:xfrm>
          <a:prstGeom prst="rect">
            <a:avLst/>
          </a:prstGeom>
          <a:solidFill>
            <a:srgbClr val="6089A0"/>
          </a:solidFill>
          <a:ln w="12700">
            <a:solidFill>
              <a:srgbClr val="6089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82112" y="4160520"/>
            <a:ext cx="5212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70 s  →  45 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7240" y="5276088"/>
            <a:ext cx="106984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家庭疑问压缩15秒；科学实验压缩25秒，合计压缩40秒。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压缩对叙事与科普分别意味着什么？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反思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家庭疑问：35秒 → 20秒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优势：切入更快，减少铺垫。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代价：周阿姨生活经验、母女讨论与认知转变的呈现空间减少。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科学实验：70秒 → 45秒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优势：内容更集中。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代价：三项机制的解释、视觉停留与知识消化时间减少，需依靠字幕精炼信息。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AI制作的难点：哪些能解决，哪些不能？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技术反思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工具擅长的部分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从文本描述生成生活化场景。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制作肉眼不可见的微观原理示意。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帮助以较低拍摄门槛形成科普初稿。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仍需人工负责的部分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角色与道具的连续性、动作逻辑。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字幕数字及科学机制审核。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最终镜头选择、配音节奏与受众适配。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初步成果展示：视频初版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成果展示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1417320"/>
            <a:ext cx="10287000" cy="4416552"/>
          </a:xfrm>
          <a:prstGeom prst="roundRect">
            <a:avLst>
              <a:gd name="adj" fmla="val 1656"/>
            </a:avLst>
          </a:prstGeom>
          <a:solidFill>
            <a:srgbClr val="FBF8F7"/>
          </a:solidFill>
          <a:ln w="12700">
            <a:solidFill>
              <a:srgbClr val="C4A5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42416" y="1545336"/>
            <a:ext cx="10030968" cy="4160520"/>
          </a:xfrm>
          <a:prstGeom prst="line">
            <a:avLst/>
          </a:prstGeom>
          <a:noFill/>
          <a:ln w="12700">
            <a:solidFill>
              <a:srgbClr val="D9C0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176272"/>
            <a:ext cx="9829800" cy="34838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请插入你们当前初版视频或视频封面及链接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作品未公开发布，课堂展示不代表传播效果验证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CA2D6B5-C8DD-4032-8F82-042D893D2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F2F749DC-D4AB-4FF7-ABD5-5F2FF3D21263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只做当餐，先按需要确定份量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A5D2697C-7812-4C79-914C-2FB1B73136B9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18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FC9DE8-C5B2-473B-9AEC-AD8A2863D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333500"/>
            <a:ext cx="8686800" cy="4886325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E88ABA53-E7CD-4594-BB02-AF8325CF4921}"/>
              </a:ext>
            </a:extLst>
          </p:cNvPr>
          <p:cNvSpPr>
            <a:spLocks noGrp="1"/>
          </p:cNvSpPr>
          <p:nvPr/>
        </p:nvSpPr>
        <p:spPr>
          <a:xfrm>
            <a:off x="9667875" y="1600200"/>
            <a:ext cx="2000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当餐1人份</a:t>
            </a:r>
          </a:p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共做1份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3BAD06AD-56B9-4F23-A0E1-BB7F09C61DAA}"/>
              </a:ext>
            </a:extLst>
          </p:cNvPr>
          <p:cNvSpPr>
            <a:spLocks noGrp="1"/>
          </p:cNvSpPr>
          <p:nvPr/>
        </p:nvSpPr>
        <p:spPr>
          <a:xfrm>
            <a:off x="9667875" y="2857500"/>
            <a:ext cx="2000250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按当餐人数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计算原料用量</a:t>
            </a:r>
          </a:p>
          <a:p>
            <a:endParaRPr sz="17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先决定是否需要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为下一餐备餐</a:t>
            </a: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BD875492-61C0-4006-8A3A-D6AD5F86073F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配套游戏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7390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5E368A7-E058-4356-A8E3-7CCEC229D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34AA4375-9EB0-4531-A07F-CF3175245271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当餐人数与下一餐留存分别计算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67167F3B-569E-4DE9-82EE-F24C3DC44469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19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2DFB68-F49F-4347-A0D1-35862F234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333500"/>
            <a:ext cx="8686800" cy="4886325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ADA61D9A-DC94-4537-BCA6-D5E186EC1799}"/>
              </a:ext>
            </a:extLst>
          </p:cNvPr>
          <p:cNvSpPr>
            <a:spLocks noGrp="1"/>
          </p:cNvSpPr>
          <p:nvPr/>
        </p:nvSpPr>
        <p:spPr>
          <a:xfrm>
            <a:off x="9667875" y="1600200"/>
            <a:ext cx="2000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当餐2人份</a:t>
            </a:r>
          </a:p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另备1份冷藏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190BF943-0A2C-4C01-A3DE-428661D75AED}"/>
              </a:ext>
            </a:extLst>
          </p:cNvPr>
          <p:cNvSpPr>
            <a:spLocks noGrp="1"/>
          </p:cNvSpPr>
          <p:nvPr/>
        </p:nvSpPr>
        <p:spPr>
          <a:xfrm>
            <a:off x="9667875" y="2857500"/>
            <a:ext cx="2000250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本次共做3份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食材同步增加</a:t>
            </a:r>
          </a:p>
          <a:p>
            <a:endParaRPr sz="17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区分当餐需要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和下一餐需求</a:t>
            </a: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930B9D34-D6CE-468C-BF2D-C81113FA10AE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配套游戏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41661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D47826C-E2BA-4DD1-A3A8-A90DEC759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FA54D4D9-42DA-4F06-85AE-EDFD52393182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计划留存的饭菜在上桌前分装冷藏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A872E4B0-6C5C-440E-8FCD-CD18EC567244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8C1264-FF47-4894-BA99-20C0936B4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333500"/>
            <a:ext cx="8686800" cy="4886325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7ED350FC-5F11-400D-9EC4-A5E7F50A00A3}"/>
              </a:ext>
            </a:extLst>
          </p:cNvPr>
          <p:cNvSpPr>
            <a:spLocks noGrp="1"/>
          </p:cNvSpPr>
          <p:nvPr/>
        </p:nvSpPr>
        <p:spPr>
          <a:xfrm>
            <a:off x="9667875" y="1600200"/>
            <a:ext cx="2000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另备1份冷藏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2009506E-FA40-418D-A0D7-F09718B1939F}"/>
              </a:ext>
            </a:extLst>
          </p:cNvPr>
          <p:cNvSpPr>
            <a:spLocks noGrp="1"/>
          </p:cNvSpPr>
          <p:nvPr/>
        </p:nvSpPr>
        <p:spPr>
          <a:xfrm>
            <a:off x="9667875" y="2857500"/>
            <a:ext cx="2000250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增加一份食材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同步查看保存要求</a:t>
            </a:r>
          </a:p>
          <a:p>
            <a:endParaRPr sz="17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本关两餐耗7精力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分开现做耗12</a:t>
            </a: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8282B42B-0EF5-4D6B-95CD-19D0B1A20C70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配套游戏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3645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F880BF2-86DE-49D2-98CF-77CD20EC2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D1B6244E-3D2D-4C1A-900B-1D3321D2D801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灶台留存的风险在选择时清楚提示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B3F99C4D-BC73-4FBA-AAF4-42BC8073B29C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6870EB-44BF-49CC-AA01-14B1DB084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333500"/>
            <a:ext cx="8686800" cy="4886325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6A869642-0B3B-4B78-8CAE-D2C189607897}"/>
              </a:ext>
            </a:extLst>
          </p:cNvPr>
          <p:cNvSpPr>
            <a:spLocks noGrp="1"/>
          </p:cNvSpPr>
          <p:nvPr/>
        </p:nvSpPr>
        <p:spPr>
          <a:xfrm>
            <a:off x="9667875" y="1600200"/>
            <a:ext cx="2000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留在灶台</a:t>
            </a:r>
          </a:p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5小时后到午餐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B4E1DE52-7B64-45B0-AF0C-25FB8BB6BB8F}"/>
              </a:ext>
            </a:extLst>
          </p:cNvPr>
          <p:cNvSpPr>
            <a:spLocks noGrp="1"/>
          </p:cNvSpPr>
          <p:nvPr/>
        </p:nvSpPr>
        <p:spPr>
          <a:xfrm>
            <a:off x="9667875" y="2857500"/>
            <a:ext cx="2000250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选择时提示风险</a:t>
            </a:r>
          </a:p>
          <a:p>
            <a:endParaRPr sz="17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这份留存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不能用于下一餐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届时应丢弃</a:t>
            </a: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E9516965-73C6-4658-9CD5-93D6EC7D24D2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配套游戏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69951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F8E5E3F-2435-4D8F-B82A-9F3883CCD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83D466F6-76FD-4893-BC49-394D01DB54B8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下一餐先查看熟食的保存记录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8131E138-09DF-4050-89D6-90097DFA871C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F5D822-8C95-467F-95B2-0E029BF73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333500"/>
            <a:ext cx="8686800" cy="4886325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7AC267FD-D3DE-4A37-8510-234A9936A6D8}"/>
              </a:ext>
            </a:extLst>
          </p:cNvPr>
          <p:cNvSpPr>
            <a:spLocks noGrp="1"/>
          </p:cNvSpPr>
          <p:nvPr/>
        </p:nvSpPr>
        <p:spPr>
          <a:xfrm>
            <a:off x="9667875" y="1600200"/>
            <a:ext cx="2000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冷藏待再热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A2312971-241E-46E6-9076-4406F6F70B34}"/>
              </a:ext>
            </a:extLst>
          </p:cNvPr>
          <p:cNvSpPr>
            <a:spLocks noGrp="1"/>
          </p:cNvSpPr>
          <p:nvPr/>
        </p:nvSpPr>
        <p:spPr>
          <a:xfrm>
            <a:off x="9667875" y="2857500"/>
            <a:ext cx="2000250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保留分装过程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以及时间与温度</a:t>
            </a:r>
          </a:p>
          <a:p>
            <a:endParaRPr sz="17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食用前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须彻底再热</a:t>
            </a: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6B396232-7287-4A2F-8EF1-0C29E75E9F82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配套游戏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7254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B05662B-1394-43FA-A4BE-2CF7E6F1A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E1F91C0A-1A05-4B5F-8651-48085E5CE5FD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取出当餐份量后再热并开饭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DAC21C06-D1E5-4183-B429-20DDA1165403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6DD52EA-71B5-46B6-BB92-073AEB56E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333500"/>
            <a:ext cx="8686800" cy="4886325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6B682038-64F4-4A0C-A0A1-976C8605F553}"/>
              </a:ext>
            </a:extLst>
          </p:cNvPr>
          <p:cNvSpPr>
            <a:spLocks noGrp="1"/>
          </p:cNvSpPr>
          <p:nvPr/>
        </p:nvSpPr>
        <p:spPr>
          <a:xfrm>
            <a:off x="9667875" y="1600200"/>
            <a:ext cx="2000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再热并开饭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66EFBBE8-53B0-4E24-95D8-8457CBAB6963}"/>
              </a:ext>
            </a:extLst>
          </p:cNvPr>
          <p:cNvSpPr>
            <a:spLocks noGrp="1"/>
          </p:cNvSpPr>
          <p:nvPr/>
        </p:nvSpPr>
        <p:spPr>
          <a:xfrm>
            <a:off x="9667875" y="2857500"/>
            <a:ext cx="2000250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按当餐需要取用</a:t>
            </a:r>
          </a:p>
          <a:p>
            <a:endParaRPr sz="17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确认后记录再热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并扣除对应库存</a:t>
            </a: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7E8BAD83-1DE8-479C-86B8-D42A9B96885C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配套游戏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8809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2E1267A-F9A3-4213-8DB2-9D2C0D981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9C5A1BA1-2433-4141-80A1-9EE64B557581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保存不当的饭菜进入待处理列表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938AC4BE-6C10-4742-B310-98A630B64871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CF441F-8B0A-41E0-A42D-1DE46B5A0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333500"/>
            <a:ext cx="8686800" cy="4886325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CB18C5F4-DE62-4F46-B98D-4C36B9AAC930}"/>
              </a:ext>
            </a:extLst>
          </p:cNvPr>
          <p:cNvSpPr>
            <a:spLocks noGrp="1"/>
          </p:cNvSpPr>
          <p:nvPr/>
        </p:nvSpPr>
        <p:spPr>
          <a:xfrm>
            <a:off x="9667875" y="1600200"/>
            <a:ext cx="2000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保存不当</a:t>
            </a:r>
          </a:p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应丢弃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25DB79FA-F2EE-4C0B-B079-DFC86086A1F6}"/>
              </a:ext>
            </a:extLst>
          </p:cNvPr>
          <p:cNvSpPr>
            <a:spLocks noGrp="1"/>
          </p:cNvSpPr>
          <p:nvPr/>
        </p:nvSpPr>
        <p:spPr>
          <a:xfrm>
            <a:off x="9667875" y="2857500"/>
            <a:ext cx="2000250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不加入下一餐餐盘</a:t>
            </a:r>
          </a:p>
          <a:p>
            <a:endParaRPr sz="17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玩家按份丢弃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清理待处理库存</a:t>
            </a: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8D1C22D3-1461-4DF8-8102-9A5F0D5A6F68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配套游戏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66442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E916746-DBB7-4D3F-8D10-A7229DD74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9A7A516A-C2A9-4768-A60B-432F77937A9F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冷藏后的熟食仍需管理保存时间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15B1F99D-4A4A-4F30-9F91-1F7FA67C99D9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7B44F1-B805-4FCE-849E-AB05B93B4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333500"/>
            <a:ext cx="8686800" cy="4886325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3535B2AE-E6C9-4AA8-B073-FCB27543126D}"/>
              </a:ext>
            </a:extLst>
          </p:cNvPr>
          <p:cNvSpPr>
            <a:spLocks noGrp="1"/>
          </p:cNvSpPr>
          <p:nvPr/>
        </p:nvSpPr>
        <p:spPr>
          <a:xfrm>
            <a:off x="9667875" y="1600200"/>
            <a:ext cx="2000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冷藏超过3天</a:t>
            </a:r>
          </a:p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转入待处理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005A1E7F-45A7-4EC6-8217-269CCC13F0EA}"/>
              </a:ext>
            </a:extLst>
          </p:cNvPr>
          <p:cNvSpPr>
            <a:spLocks noGrp="1"/>
          </p:cNvSpPr>
          <p:nvPr/>
        </p:nvSpPr>
        <p:spPr>
          <a:xfrm>
            <a:off x="9667875" y="2857500"/>
            <a:ext cx="2000250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第1天留到第5天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超过本关保存时限</a:t>
            </a:r>
          </a:p>
          <a:p>
            <a:endParaRPr sz="17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状态随日期变化</a:t>
            </a: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A754C704-607B-4CAD-96C0-FD3FFA04089D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配套游戏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978728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FB9F3B8-19BF-49B5-A05B-4E8B35838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8B771A26-669E-4E3E-B297-F1E51DD93B42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科普参考集中说明剩菜处理依据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91DAD7C0-1A20-4B45-AE7B-09B9A0EE7C4F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26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26EDE6-EF40-4CD4-9E29-310A8DB8A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333500"/>
            <a:ext cx="8686800" cy="4886325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EAB3223C-2425-431A-ABA6-AF1E44DD7ABA}"/>
              </a:ext>
            </a:extLst>
          </p:cNvPr>
          <p:cNvSpPr>
            <a:spLocks noGrp="1"/>
          </p:cNvSpPr>
          <p:nvPr/>
        </p:nvSpPr>
        <p:spPr>
          <a:xfrm>
            <a:off x="9667875" y="1600200"/>
            <a:ext cx="2000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操作后</a:t>
            </a:r>
          </a:p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可回看依据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CFCD90CE-9379-453A-99A4-727480B85398}"/>
              </a:ext>
            </a:extLst>
          </p:cNvPr>
          <p:cNvSpPr>
            <a:spLocks noGrp="1"/>
          </p:cNvSpPr>
          <p:nvPr/>
        </p:nvSpPr>
        <p:spPr>
          <a:xfrm>
            <a:off x="9667875" y="2857500"/>
            <a:ext cx="2000250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集中说明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分装和冷藏条件</a:t>
            </a: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以及再热与丢弃</a:t>
            </a:r>
          </a:p>
          <a:p>
            <a:endParaRPr sz="17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7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sz="1700" b="0">
                <a:solidFill>
                  <a:srgbClr val="333333"/>
                </a:solidFill>
                <a:latin typeface="微软雅黑"/>
                <a:ea typeface="微软雅黑"/>
              </a:rPr>
              <a:t>原型仍需受众试用</a:t>
            </a: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ECF6A0B0-FBF3-43C6-9346-9DFCBFEF2B74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配套游戏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7845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目前优势与问题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现状分析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目前可确认的设计成果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已有从第一次汇报延续的剧情科普结构。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风险知识有时间、温度、复热三条线索。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提供丢弃、分装、及时冷藏和合理复热的行动示范。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目前仍待解决的不足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关键片段因额度限制被压缩，科普节奏需再次检查。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生成内容仍需核对科学示意与人物连续性。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尚无公开传播数据，也尚未取得受众评价。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下一步如何改进：先保证准确，再谈效果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后续计划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内容复核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逐项核对室温放置、冷藏、复热与丢弃条件。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检查“原理示意”标识与科学边界。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初版优化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检查压缩后是否出现跳跃。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调整对白、字幕时长、实验室镜头的停留。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受众试映</a:t>
            </a:r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条件允许时邀请目标受众试看。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观察是否理解判断条件和操作步骤，不只问是否喜欢。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思考提纲</a:t>
            </a: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 / 思考提纲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74725" y="1323340"/>
            <a:ext cx="1032637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三</a:t>
            </a: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、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形式设计与传播适配思考</a:t>
            </a:r>
          </a:p>
          <a:p>
            <a:pPr marL="0" indent="0" algn="l">
              <a:buNone/>
            </a:pPr>
            <a:br>
              <a:rPr 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1.选择的传播载体是什么？（海报/公众号/短视频/折页等）选择该载体的理由是什么？对新媒体的评价怎样？</a:t>
            </a:r>
            <a:br>
              <a:rPr lang="en-US" sz="16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剧情科普视频承担线性的信息传递：家庭疑问→机制解释→处置行动。配套游戏承担情境选择与反馈，视频不替代游戏功能。</a:t>
            </a:r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2.在视觉、排版、结构、时长等形式设计上，如何贴合受众阅读/观看习惯？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家庭部分写实、实验室部分可视化；使用短句、清楚字幕和单镜头主要动作。原设160秒；实际制作受额度影响，部分片段压缩，仍需检验观看节奏。</a:t>
            </a:r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3.设计过程中，是否遇到“美观和实用冲突”“创意和科学冲突”的问题？具体如何取舍？</a:t>
            </a:r>
          </a:p>
          <a:p>
            <a:pPr marL="0" indent="0" algn="l">
              <a:buNone/>
            </a:pPr>
            <a:r>
              <a:rPr lang="zh-CN" altLang="en-US" sz="1600" dirty="0"/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不制造责备性代际争吵；不把微生物动画当真实证据。不让室温放了一夜的饭菜加热后被继续食用。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4.目前材料在传播性、吸引力上有哪些优势和不足？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优势：家庭场景与微观机制解释相结合，提供具体保存步骤。不足：家庭20秒、三项实验各15秒；科学解释节奏更紧凑，尚无受众评价。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思考提纲</a:t>
            </a: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 / 思考提纲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74725" y="1323340"/>
            <a:ext cx="10326370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四、迭代修改与问题反思</a:t>
            </a:r>
          </a:p>
          <a:p>
            <a:pPr marL="0" indent="0" algn="l">
              <a:buNone/>
            </a:pPr>
            <a:br>
              <a:rPr 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1.从初稿到定稿，修改了哪些内容？（知识点、排版、语言、结构、受众适配性等）</a:t>
            </a:r>
            <a:br>
              <a:rPr lang="en-US" sz="16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答：剧本阶段修改矛盾点，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原160秒设计含家庭35秒、实验室70秒。由于制作资源限制，家庭疑问实际压缩至20秒，科学实验调整为每项15秒、合计45秒。</a:t>
            </a:r>
            <a:endParaRPr lang="en-US" sz="1600" dirty="0"/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2.修改的原因是什么？（自我发现问题/带教老师指导/同学互评反馈）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剧本阶段基于科普完整性和科学逻辑进行调整。视频制作阶段则受到即梦额度及会员限制，需优先保留能够传递主要知识的镜头。</a:t>
            </a:r>
            <a:endParaRPr lang="en-US" sz="1600" dirty="0"/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3.本次创作中，出现过误区吗，是什么？（例如：重形式轻内容、自嗨式创作、忽略受众、理论脱离实践等）</a:t>
            </a:r>
          </a:p>
          <a:p>
            <a:pPr marL="0" indent="0" algn="l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重视觉轻科学；以年轻人偏好的表现替代受众适配；把AI成片等同传播成功。因此坚持先确定信息、再决定画面，并保留审核环节。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4.整个制作过程中，最难解决的问题是什么？最终的解决方式与效果如何？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有限额度与时长下，如何保留剧情、科普解释和正确动作？通过压缩开场、将实验改为每项15秒实现初稿；效果仍需后续试看核对。</a:t>
            </a:r>
            <a:endParaRPr lang="en-US" sz="1600" dirty="0"/>
          </a:p>
          <a:p>
            <a:pPr marL="0" indent="0" algn="l">
              <a:buNone/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致谢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1985" y="2780665"/>
            <a:ext cx="106527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感谢老师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批评与指导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！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622969" y="5494929"/>
            <a:ext cx="9216572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汇报小组：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3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大组第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小组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					    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时间：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2026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年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10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月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27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日</a:t>
            </a:r>
          </a:p>
          <a:p>
            <a:pPr algn="l">
              <a:lnSpc>
                <a:spcPct val="130000"/>
              </a:lnSpc>
            </a:pP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组员：</a:t>
            </a:r>
            <a:r>
              <a:rPr lang="en-US" sz="1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王歆尧  田伦荣益  李文鹏  李嘉辉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			</a:t>
            </a:r>
            <a:endParaRPr lang="zh-CN" altLang="en-US" sz="1400" b="1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1894</Words>
  <Application>Microsoft Office PowerPoint</Application>
  <PresentationFormat>宽屏</PresentationFormat>
  <Paragraphs>395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微软雅黑</vt:lpstr>
      <vt:lpstr>微软雅黑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隔夜食验室 第二次汇报</dc:title>
  <dc:subject>公共卫生传播学第二次汇报</dc:subject>
  <dc:creator>OpenAI</dc:creator>
  <cp:lastModifiedBy>歆尧 王</cp:lastModifiedBy>
  <cp:revision>3</cp:revision>
  <dcterms:created xsi:type="dcterms:W3CDTF">2026-10-26T14:06:00Z</dcterms:created>
  <dcterms:modified xsi:type="dcterms:W3CDTF">2026-10-27T01:13:13Z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1A59AB9D84104BCCA4F70A7C1C57907A_12</vt:lpwstr>
  </property>
</Properties>
</file>