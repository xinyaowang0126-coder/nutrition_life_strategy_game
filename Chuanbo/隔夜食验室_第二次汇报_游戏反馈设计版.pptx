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7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8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9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15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notesSlides/notesSlide24.xml" ContentType="application/vnd.openxmlformats-officedocument.presentationml.notesSlide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89" r:id="rId19"/>
    <p:sldId id="290" r:id="rId20"/>
    <p:sldId id="291" r:id="rId21"/>
    <p:sldId id="292" r:id="rId22"/>
    <p:sldId id="293" r:id="rId23"/>
    <p:sldId id="294" r:id="rId24"/>
    <p:sldId id="273" r:id="rId25"/>
    <p:sldId id="274" r:id="rId26"/>
    <p:sldId id="287" r:id="rId27"/>
    <p:sldId id="288" r:id="rId28"/>
    <p:sldId id="286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1F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看完视频，我们再看第一次汇报中提出的另一种传播形式，也就是《好好吃饭》游戏。第一次方案借鉴反馈调节的思路，希望玩家在情境中作选择，观察结果，再调整行动。</a:t>
            </a:r>
          </a:p>
          <a:p>
            <a:endParaRPr/>
          </a:p>
          <a:p>
            <a:r>
              <a:t>这次新增的展示，就是说明这一构想怎样落实到周阿姨篇。视频按照剧情顺序解释剩菜处理的风险与方法，游戏则把相关知识放进做饭、保存和下一餐取用的选择里。接下来我们沿着一顿饭的安排，看这些选择怎样影响后续生活。</a:t>
            </a:r>
          </a:p>
          <a:p>
            <a:endParaRPr/>
          </a:p>
          <a:p>
            <a:r>
              <a:t>资料与图片来源：第一次汇报第17—18页：线性传播与借鉴控制论的反馈调节逻辑。第21—23页：周阿姨故事、保存提示及选择反馈。截图来自当前游戏完整原生画面；此处展示操作机制，不代表学习效果已经验证。</a:t>
            </a:r>
          </a:p>
          <a:p>
            <a:r>
              <a:t>截图：E:\nutrition_life_strategy_game\docs\assets\chuanbo-game-feedback-2026-10-27\00-daily-life-context.png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35962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第一次汇报就提出，不能忽视备餐在现实生活中的需要，也不能把节约观念本身当作问题。周阿姨这一周的目标是参加社区合唱汇演，玩家需要同时安排饮食、休息和排练。</a:t>
            </a:r>
          </a:p>
          <a:p>
            <a:endParaRPr/>
          </a:p>
          <a:p>
            <a:r>
              <a:t>这张画面是早餐后的安排。玩家可以练歌、休息或购买小份食材，需要在现有精力和当天的安排格中作取舍。只做当餐或提前备餐，都可以是合理的选择。游戏把剩菜处理放进这些生活需要里，重点是让玩家考虑留存份怎样保存，以及它能否支持后续安排。</a:t>
            </a:r>
          </a:p>
          <a:p>
            <a:endParaRPr/>
          </a:p>
          <a:p>
            <a:r>
              <a:t>资料与图片来源：第一次汇报第3、10—11页：尊重生活经验和节约动机。第21页：周阿姨围绕社区合唱汇演安排生活。截图为独立展示局首日早餐后的真实行动选择，未更改玩家存档。</a:t>
            </a:r>
          </a:p>
          <a:p>
            <a:r>
              <a:t>截图：E:\nutrition_life_strategy_game\docs\assets\chuanbo-game-feedback-2026-10-27\01-life-and-rehearsal.png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21049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做饭时，玩家会面对只做当餐、另备一份冷藏和留在灶台三种选择。它们会产生不同的后续结果：是否留下熟食，以及留下的饭菜到下一餐还能不能使用。</a:t>
            </a:r>
          </a:p>
          <a:p>
            <a:endParaRPr/>
          </a:p>
          <a:p>
            <a:r>
              <a:t>选择另备冷藏后，界面同步列出增加的食材，并提示上桌前分装、及时冷藏和下次食用前再热。选择灶台留存，也会在当下说明相应风险。我们把判断所需的信息放在选择旁，让玩家在决定这一餐时，就能考虑下一餐。画面中的一小时是本关采用的具体演练条件，所参考的食安资料强调尽快分装冷却并在两小时内冷藏。</a:t>
            </a:r>
          </a:p>
          <a:p>
            <a:endParaRPr/>
          </a:p>
          <a:p>
            <a:r>
              <a:t>资料与图片来源：第一次汇报第18、23页：生活决策、资源约束及选择后的系统反馈。当前游戏 CookingPlanStage.gd 和 KitchenStock.gd 的三个留存分支。科普依据：https://www.cfs.gov.hk/sc_chi/consumer_zone/safefood_all/five_keys_apply_leftovers.html 。1小时是关卡情境，不替代资料中的一般处理建议。</a:t>
            </a:r>
          </a:p>
          <a:p>
            <a:r>
              <a:t>截图：E:\nutrition_life_strategy_game\docs\assets\choir-leftovers-showcase-2026-10-27\02-cook-save-one-cold.png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64384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第一次汇报的保存提示已经包含两个环节：查看历史，以及限制不合规熟食进入餐盘。现在，玩家可以在库存里查看一份饭菜经历了怎样的保存过程，再看到它对应的可用状态。</a:t>
            </a:r>
          </a:p>
          <a:p>
            <a:endParaRPr/>
          </a:p>
          <a:p>
            <a:r>
              <a:t>画面是选择灶台留存后的午餐。系统显示已经过五小时、未保持安全温度，因此米饭和菜都进入待处理。及时分装冷藏的批次则进入待再热。这样的反馈给出了原因，也给出了操作边界，引导玩家依据保存经历作判断，回应仅凭是否隔夜或气味外观来决定能不能吃的简单认识。</a:t>
            </a:r>
          </a:p>
          <a:p>
            <a:endParaRPr/>
          </a:p>
          <a:p>
            <a:r>
              <a:t>资料与图片来源：第一次汇报第22页：查看历史、系统限制、玩家处置及继续安排。当前游戏 KitchenStock.classify、available 和 KitchenStockStage.gd。科普依据：https://www.cfs.gov.hk/sc_chi/consumer_zone/safefood_all/five_keys_apply_leftovers.html 。截图为本关5小时灶台留存的后续结果。</a:t>
            </a:r>
          </a:p>
          <a:p>
            <a:r>
              <a:t>截图：E:\nutrition_life_strategy_game\docs\assets\choir-leftovers-showcase-2026-10-27\07-counter-leftovers-need-discard.png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30959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有了这些反馈，玩家还需要作下一步选择。妥善留存的米饭和菜，可以在下一餐按需要取用，并在开饭前完成彻底再热。保存不当的批次则需要丢弃，再重新选择这一餐的食物，或者安排制作。</a:t>
            </a:r>
          </a:p>
          <a:p>
            <a:endParaRPr/>
          </a:p>
          <a:p>
            <a:r>
              <a:t>前面的保存决定会改变现在能用的食物，也影响后续怎样安排食材和精力。这样就把第一次提出的选择、系统反馈和调整行动连接起来。我们展示的是玩家能够观察和调整的机会，是否真正学会并应用到现实生活，还需要后续试用来检验。</a:t>
            </a:r>
          </a:p>
          <a:p>
            <a:endParaRPr/>
          </a:p>
          <a:p>
            <a:r>
              <a:t>资料与图片来源：第一次汇报第17—18、22—23页：行动选择、系统反馈、调整行动，以及反馈不能直接等同科普效果。当前游戏 HouseholdMealStage.gd、KitchenStock.consume 与 discard。科普依据：https://www.cfs.gov.hk/sc_chi/consumer_zone/packed_meals.html 。再热温度等具体条件见本关科普参考。</a:t>
            </a:r>
          </a:p>
          <a:p>
            <a:r>
              <a:t>截图：E:\nutrition_life_strategy_game\docs\assets\choir-leftovers-showcase-2026-10-27\05-reheat-and-eat.png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23832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这种反馈还会随着日期推进继续变化。这份米饭和菜在第一天留存，一直没有取用，到了第五天，系统就将它们标为超过本关冷藏时限、需要丢弃。</a:t>
            </a:r>
          </a:p>
          <a:p>
            <a:endParaRPr/>
          </a:p>
          <a:p>
            <a:r>
              <a:t>因此，玩家要在不同餐次和日期继续查看库存，及时安排食用或处理。剩菜处理也就从一次性的选项，延伸为持续的生活安排。这是第一次游戏构想目前落实到原型中的部分。接下来，我们回到整体作品的优势、不足和后续评价。</a:t>
            </a:r>
          </a:p>
          <a:p>
            <a:endParaRPr/>
          </a:p>
          <a:p>
            <a:r>
              <a:t>资料与图片来源：第一次汇报第23页：根据结算与阶段总结调整后续安排。当前游戏 KitchenStock.refresh 的跨日保存判定，截图从第1天正常推进到第5天。科普依据：https://www.cfs.gov.hk/sc_chi/consumer_zone/safefood_all/five_keys_apply_leftovers.html 。超过3天为本关采用的超时说明，不表示期限内任何条件下都安全。</a:t>
            </a:r>
          </a:p>
          <a:p>
            <a:r>
              <a:t>截图：E:\nutrition_life_strategy_game\docs\assets\choir-leftovers-showcase-2026-10-27\10-cold-storage-time-limit.png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12310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67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5.xml"/><Relationship Id="rId7" Type="http://schemas.openxmlformats.org/officeDocument/2006/relationships/tags" Target="../tags/tag19.xml"/><Relationship Id="rId12" Type="http://schemas.openxmlformats.org/officeDocument/2006/relationships/tags" Target="../tags/tag24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11" Type="http://schemas.openxmlformats.org/officeDocument/2006/relationships/tags" Target="../tags/tag23.xml"/><Relationship Id="rId5" Type="http://schemas.openxmlformats.org/officeDocument/2006/relationships/tags" Target="../tags/tag17.xml"/><Relationship Id="rId15" Type="http://schemas.openxmlformats.org/officeDocument/2006/relationships/image" Target="../media/image1.png"/><Relationship Id="rId10" Type="http://schemas.openxmlformats.org/officeDocument/2006/relationships/tags" Target="../tags/tag22.xml"/><Relationship Id="rId4" Type="http://schemas.openxmlformats.org/officeDocument/2006/relationships/tags" Target="../tags/tag16.xml"/><Relationship Id="rId9" Type="http://schemas.openxmlformats.org/officeDocument/2006/relationships/tags" Target="../tags/tag2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1.png"/><Relationship Id="rId5" Type="http://schemas.openxmlformats.org/officeDocument/2006/relationships/tags" Target="../tags/tag29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28.xml"/><Relationship Id="rId9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image" Target="../media/image1.png"/><Relationship Id="rId5" Type="http://schemas.openxmlformats.org/officeDocument/2006/relationships/tags" Target="../tags/tag37.xml"/><Relationship Id="rId10" Type="http://schemas.openxmlformats.org/officeDocument/2006/relationships/notesSlide" Target="../notesSlides/notesSlide8.xml"/><Relationship Id="rId4" Type="http://schemas.openxmlformats.org/officeDocument/2006/relationships/tags" Target="../tags/tag36.xml"/><Relationship Id="rId9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image" Target="../media/image1.png"/><Relationship Id="rId5" Type="http://schemas.openxmlformats.org/officeDocument/2006/relationships/tags" Target="../tags/tag45.xml"/><Relationship Id="rId10" Type="http://schemas.openxmlformats.org/officeDocument/2006/relationships/notesSlide" Target="../notesSlides/notesSlide9.xml"/><Relationship Id="rId4" Type="http://schemas.openxmlformats.org/officeDocument/2006/relationships/tags" Target="../tags/tag44.xml"/><Relationship Id="rId9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image" Target="../media/image1.png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53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image" Target="../media/image1.png"/><Relationship Id="rId3" Type="http://schemas.openxmlformats.org/officeDocument/2006/relationships/tags" Target="../tags/tag60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notesSlide" Target="../notesSlides/notesSlide11.xml"/><Relationship Id="rId2" Type="http://schemas.openxmlformats.org/officeDocument/2006/relationships/tags" Target="../tags/tag59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10" Type="http://schemas.openxmlformats.org/officeDocument/2006/relationships/tags" Target="../tags/tag6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1.png"/><Relationship Id="rId5" Type="http://schemas.openxmlformats.org/officeDocument/2006/relationships/tags" Target="../tags/tag77.xml"/><Relationship Id="rId10" Type="http://schemas.openxmlformats.org/officeDocument/2006/relationships/notesSlide" Target="../notesSlides/notesSlide13.xml"/><Relationship Id="rId4" Type="http://schemas.openxmlformats.org/officeDocument/2006/relationships/tags" Target="../tags/tag76.xml"/><Relationship Id="rId9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1.png"/><Relationship Id="rId5" Type="http://schemas.openxmlformats.org/officeDocument/2006/relationships/tags" Target="../tags/tag85.xml"/><Relationship Id="rId10" Type="http://schemas.openxmlformats.org/officeDocument/2006/relationships/notesSlide" Target="../notesSlides/notesSlide15.xml"/><Relationship Id="rId4" Type="http://schemas.openxmlformats.org/officeDocument/2006/relationships/tags" Target="../tags/tag84.xml"/><Relationship Id="rId9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3" Type="http://schemas.openxmlformats.org/officeDocument/2006/relationships/tags" Target="../tags/tag91.xml"/><Relationship Id="rId7" Type="http://schemas.openxmlformats.org/officeDocument/2006/relationships/tags" Target="../tags/tag95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tags" Target="../tags/tag94.xml"/><Relationship Id="rId11" Type="http://schemas.openxmlformats.org/officeDocument/2006/relationships/image" Target="../media/image1.png"/><Relationship Id="rId5" Type="http://schemas.openxmlformats.org/officeDocument/2006/relationships/tags" Target="../tags/tag93.xml"/><Relationship Id="rId10" Type="http://schemas.openxmlformats.org/officeDocument/2006/relationships/notesSlide" Target="../notesSlides/notesSlide16.xml"/><Relationship Id="rId4" Type="http://schemas.openxmlformats.org/officeDocument/2006/relationships/tags" Target="../tags/tag92.xml"/><Relationship Id="rId9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104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1.png"/><Relationship Id="rId5" Type="http://schemas.openxmlformats.org/officeDocument/2006/relationships/tags" Target="../tags/tag101.xml"/><Relationship Id="rId10" Type="http://schemas.openxmlformats.org/officeDocument/2006/relationships/notesSlide" Target="../notesSlides/notesSlide24.xml"/><Relationship Id="rId4" Type="http://schemas.openxmlformats.org/officeDocument/2006/relationships/tags" Target="../tags/tag100.xml"/><Relationship Id="rId9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image" Target="../media/image1.png"/><Relationship Id="rId10" Type="http://schemas.openxmlformats.org/officeDocument/2006/relationships/tags" Target="../tags/tag114.xml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94560"/>
            <a:ext cx="12191695" cy="20574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2404872"/>
            <a:ext cx="1069848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隔夜“食”验室</a:t>
            </a:r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10698480" cy="46634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从传播方案到AI科普视频初稿</a:t>
            </a:r>
          </a:p>
        </p:txBody>
      </p:sp>
      <p:sp>
        <p:nvSpPr>
          <p:cNvPr id="7" name="Text 4"/>
          <p:cNvSpPr/>
          <p:nvPr/>
        </p:nvSpPr>
        <p:spPr>
          <a:xfrm>
            <a:off x="914400" y="4582795"/>
            <a:ext cx="10332720" cy="166497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三大组</a:t>
            </a:r>
            <a:r>
              <a:rPr lang="en-US" altLang="zh-CN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-</a:t>
            </a: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第一小组：</a:t>
            </a:r>
            <a: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王歆尧  田伦荣益  李文鹏  李嘉辉</a:t>
            </a:r>
          </a:p>
          <a:p>
            <a:pPr marL="0" indent="0" algn="ctr">
              <a:buNone/>
            </a:pPr>
            <a:br>
              <a:rPr 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</a:br>
            <a:r>
              <a:rPr lang="en-US" sz="2000" b="1" dirty="0">
                <a:solidFill>
                  <a:srgbClr val="262626"/>
                </a:solidFill>
                <a:latin typeface="Times New Roman" panose="02020603050405020304" pitchFamily="34" charset="0"/>
                <a:ea typeface="微软雅黑" panose="020B0503020204020204" pitchFamily="34" charset="-122"/>
                <a:cs typeface="Times New Roman" panose="02020603050405020304" pitchFamily="34" charset="0"/>
              </a:rPr>
              <a:t>2026-10-27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目录：从构想到成片的五个阶段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CONTENTS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261872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066544" y="1261872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延续第一次方案，形成完整剧本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057400" y="1901952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194560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2066544" y="2194560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剧本设计：问题与三次取舍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2057400" y="2834640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312724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066544" y="3127248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AI制作：现实困难与压缩迭代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057400" y="3767328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059936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2066544" y="4059936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初版成果与当前不足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057400" y="4700016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4992624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2066544" y="4992624"/>
            <a:ext cx="91440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实习思考提纲：全过程复盘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2057400" y="5632704"/>
            <a:ext cx="8915400" cy="18288"/>
          </a:xfrm>
          <a:prstGeom prst="rect">
            <a:avLst/>
          </a:prstGeom>
          <a:solidFill>
            <a:srgbClr val="E7DAD6"/>
          </a:solidFill>
          <a:ln w="12700">
            <a:solidFill>
              <a:srgbClr val="E7DAD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第一次汇报留下的核心方案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定位与受众</a:t>
            </a:r>
          </a:p>
        </p:txBody>
      </p:sp>
      <p:sp>
        <p:nvSpPr>
          <p:cNvPr id="11" name="Text 8"/>
          <p:cNvSpPr/>
          <p:nvPr/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面向45岁及以上家庭食品处理者，也兼顾年轻家庭成员。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不否定节约观念，关注时间、温度、保存与处理条件。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传播目标与形式</a:t>
            </a:r>
          </a:p>
        </p:txBody>
      </p:sp>
      <p:sp>
        <p:nvSpPr>
          <p:cNvPr id="15" name="Text 12"/>
          <p:cNvSpPr/>
          <p:nvPr/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纠正“隔夜必然有害”和“加热必然安全”的简单判断。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原定形式：家庭情境 → 微观解释 → 现实处理。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剧本设计的第一步：先把传播目标变成故事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主人公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周阿姨：重视节约，有生活经验的家庭食品处理者。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小林：关心母亲，善于提问的年轻家人。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核心冲突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一盘室温放了一夜的饭菜，究竟还能不能吃？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争议集中于保存条件，不是代际对立。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转变过程</a:t>
            </a:r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家庭提出疑问 → 进入“食”验室寻找解释 → 返回现实做出处理选择。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原剧本：160秒，家庭—实验—行动完整闭环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 / 剧本结构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1856232"/>
            <a:ext cx="2296287" cy="749808"/>
          </a:xfrm>
          <a:prstGeom prst="rect">
            <a:avLst/>
          </a:prstGeom>
          <a:solidFill>
            <a:srgbClr val="C18D75"/>
          </a:solidFill>
          <a:ln w="12700">
            <a:solidFill>
              <a:srgbClr val="C18D7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19247" y="1856232"/>
            <a:ext cx="656082" cy="749808"/>
          </a:xfrm>
          <a:prstGeom prst="rect">
            <a:avLst/>
          </a:prstGeom>
          <a:solidFill>
            <a:srgbClr val="D5AB71"/>
          </a:solidFill>
          <a:ln w="12700">
            <a:solidFill>
              <a:srgbClr val="D5AB7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75329" y="1856232"/>
            <a:ext cx="4592574" cy="749808"/>
          </a:xfrm>
          <a:prstGeom prst="rect">
            <a:avLst/>
          </a:prstGeom>
          <a:solidFill>
            <a:srgbClr val="698DAB"/>
          </a:solidFill>
          <a:ln w="12700">
            <a:solidFill>
              <a:srgbClr val="698DA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367903" y="1856232"/>
            <a:ext cx="2296287" cy="749808"/>
          </a:xfrm>
          <a:prstGeom prst="rect">
            <a:avLst/>
          </a:prstGeom>
          <a:solidFill>
            <a:srgbClr val="83A28E"/>
          </a:solidFill>
          <a:ln w="12700">
            <a:solidFill>
              <a:srgbClr val="83A28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664190" y="1856232"/>
            <a:ext cx="656082" cy="749808"/>
          </a:xfrm>
          <a:prstGeom prst="rect">
            <a:avLst/>
          </a:prstGeom>
          <a:solidFill>
            <a:srgbClr val="BC7480"/>
          </a:solidFill>
          <a:ln w="12700">
            <a:solidFill>
              <a:srgbClr val="BC74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112" y="2944368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  35秒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382512" y="2944368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微观转场  10秒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896112" y="371246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  70秒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382512" y="3712464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现实处理  35秒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96112" y="4480560"/>
            <a:ext cx="502920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结尾  10秒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77824" y="5650992"/>
            <a:ext cx="10515600" cy="4846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计划包含30个分镜，科普部分安排三项实验。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剧本的三项科学实验：各承担什么任务？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01 / 科普内容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实验一：时间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回应“过了一夜就危险吗？”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解释熟食室温久放时部分微生物可能繁殖，强调放置时间。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实验二：温度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对比常温与及时冷藏。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冷藏可减缓繁殖，不等于灭菌，也不是无限期保存。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实验三：复热</a:t>
            </a:r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回应“热透就一定安全吗？”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解释充分复热的作用及部分耐热毒素的局限。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一：如何有戏剧性，却不制造说教？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最初的张力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母女在“省下饭菜”与“注意食品安全”之间存在分歧。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若靠争吵和责备制造冲突，可能把核心受众放在错误一方。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最终的处理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小林先询问保存经历，不直接批评。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周阿姨通过解释主动判断，节约观念被尊重，改变的是处理方式。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二：如何兼顾短剧节奏与科普深度？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创作中发现的问题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如果实验室只是一段视觉转场，观众只会看到微生物特效。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如果一次灌输过多术语，又可能影响中老年人的理解。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原剧本的解决方式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原设70秒科学解释，分为时间、温度、复热三层。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每段先提问、再示意、最后给出可理解的结论。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取舍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三：温馨结局不能牺牲科学性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09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剧本取舍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剧情逻辑的风险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如果开头饭菜室温放了一夜，结尾却加热后继续吃，会直接削弱此前科普。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观众容易误以为“热一下就能补救”。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采取的解决办法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周阿姨决定丢弃保存明显不当的饭菜。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再切到当天新做饭菜分装冷藏，次日确认保存妥当后复热。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剧本取舍总结：三个矛盾，三条原则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02 / 方法论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85800" y="138988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914400" y="150876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冲突与共情</a:t>
            </a:r>
            <a:endParaRPr lang="en-US" sz="200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4187952" y="149961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用家庭疑问替代指责性争吵：先承认节约动机，再引导判断。</a:t>
            </a:r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685800" y="289864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914400" y="301752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节奏与解释</a:t>
            </a:r>
            <a:endParaRPr lang="en-US" sz="20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4187952" y="300837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先设计足够的科普时间：时间、温度、复热分别说明。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685800" y="4407408"/>
            <a:ext cx="1078992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D7D3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914400" y="4526280"/>
            <a:ext cx="3383280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情节与科学</a:t>
            </a:r>
            <a:endParaRPr lang="en-US" sz="200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4187952" y="4517136"/>
            <a:ext cx="6903720" cy="1219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保存不当的食物不再食用，另设场景演示正确操作。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从剧本进入AI制作：实际工作流程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视频制作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576072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704088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文本剧本</a:t>
            </a:r>
            <a:endParaRPr lang="en-US" sz="2000" dirty="0"/>
          </a:p>
        </p:txBody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713232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确定对白、行为与核心科学信息</a:t>
            </a:r>
            <a:endParaRPr lang="en-US" sz="2000" dirty="0"/>
          </a:p>
        </p:txBody>
      </p:sp>
      <p:sp>
        <p:nvSpPr>
          <p:cNvPr id="11" name="Shape 8"/>
          <p:cNvSpPr/>
          <p:nvPr>
            <p:custDataLst>
              <p:tags r:id="rId4"/>
            </p:custDataLst>
          </p:nvPr>
        </p:nvSpPr>
        <p:spPr>
          <a:xfrm>
            <a:off x="2916936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3044952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逐镜提示词</a:t>
            </a:r>
            <a:endParaRPr lang="en-US" sz="200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3054096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拆成可生成的单镜头动作</a:t>
            </a:r>
            <a:endParaRPr lang="en-US" sz="2000" dirty="0"/>
          </a:p>
        </p:txBody>
      </p:sp>
      <p:sp>
        <p:nvSpPr>
          <p:cNvPr id="14" name="Shape 11"/>
          <p:cNvSpPr/>
          <p:nvPr>
            <p:custDataLst>
              <p:tags r:id="rId7"/>
            </p:custDataLst>
          </p:nvPr>
        </p:nvSpPr>
        <p:spPr>
          <a:xfrm>
            <a:off x="5257800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5385816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即梦AI</a:t>
            </a:r>
            <a:endParaRPr lang="en-US" sz="2000" dirty="0"/>
          </a:p>
        </p:txBody>
      </p:sp>
      <p:sp>
        <p:nvSpPr>
          <p:cNvPr id="16" name="Text 13"/>
          <p:cNvSpPr/>
          <p:nvPr>
            <p:custDataLst>
              <p:tags r:id="rId9"/>
            </p:custDataLst>
          </p:nvPr>
        </p:nvSpPr>
        <p:spPr>
          <a:xfrm>
            <a:off x="5394960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生成参考图及图生视频素材</a:t>
            </a:r>
            <a:endParaRPr lang="en-US" sz="2000" dirty="0"/>
          </a:p>
        </p:txBody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7598664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7726680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剪映</a:t>
            </a:r>
            <a:endParaRPr lang="en-US" sz="2000" dirty="0"/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7735824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拼接镜头、配音、字幕、科学信息</a:t>
            </a:r>
            <a:endParaRPr lang="en-US" sz="2000" dirty="0"/>
          </a:p>
        </p:txBody>
      </p:sp>
      <p:sp>
        <p:nvSpPr>
          <p:cNvPr id="20" name="Shape 17"/>
          <p:cNvSpPr/>
          <p:nvPr>
            <p:custDataLst>
              <p:tags r:id="rId13"/>
            </p:custDataLst>
          </p:nvPr>
        </p:nvSpPr>
        <p:spPr>
          <a:xfrm>
            <a:off x="9939528" y="1508760"/>
            <a:ext cx="2139696" cy="2761488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E3D6D2"/>
            </a:solidFill>
            <a:prstDash val="solid"/>
          </a:ln>
        </p:spPr>
      </p:sp>
      <p:sp>
        <p:nvSpPr>
          <p:cNvPr id="21" name="Text 18"/>
          <p:cNvSpPr/>
          <p:nvPr>
            <p:custDataLst>
              <p:tags r:id="rId14"/>
            </p:custDataLst>
          </p:nvPr>
        </p:nvSpPr>
        <p:spPr>
          <a:xfrm>
            <a:off x="10067544" y="1728216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人工核对</a:t>
            </a:r>
            <a:endParaRPr lang="en-US" sz="2000" dirty="0"/>
          </a:p>
        </p:txBody>
      </p:sp>
      <p:sp>
        <p:nvSpPr>
          <p:cNvPr id="22" name="Text 19"/>
          <p:cNvSpPr/>
          <p:nvPr>
            <p:custDataLst>
              <p:tags r:id="rId15"/>
            </p:custDataLst>
          </p:nvPr>
        </p:nvSpPr>
        <p:spPr>
          <a:xfrm>
            <a:off x="10076688" y="2487168"/>
            <a:ext cx="1874520" cy="12435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检查剧情、科学示意及连续性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实际制作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过程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</a:t>
            </a:r>
            <a:r>
              <a:rPr lang="en-US" altLang="zh-CN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</a:t>
            </a: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制作过程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02360" y="1147445"/>
            <a:ext cx="10009505" cy="5208905"/>
          </a:xfrm>
          <a:prstGeom prst="roundRect">
            <a:avLst>
              <a:gd name="adj" fmla="val 1656"/>
            </a:avLst>
          </a:prstGeom>
          <a:solidFill>
            <a:srgbClr val="FBF8F7"/>
          </a:solidFill>
          <a:ln w="12700">
            <a:solidFill>
              <a:srgbClr val="C4A5A4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940" y="1353820"/>
            <a:ext cx="4415790" cy="23793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905" y="1351915"/>
            <a:ext cx="5038725" cy="47923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4940" y="3733165"/>
            <a:ext cx="4418965" cy="24110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制作阶段遇到的新问题：资源有限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13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现实限制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具体约束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即梦AI生成额度与会员限制，无法按原计划充分生成所有镜头及尝试版本。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制作资源不只影响数量，还影响返工余地。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我们采取的调整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优先保留能够承载核心科普信息的内容。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压缩部分剧情铺垫与实验展示，以现有生成素材完成初版。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可量化的压缩：原剧本与初版对照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迭代修改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1572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154680" y="1572768"/>
            <a:ext cx="3611880" cy="393192"/>
          </a:xfrm>
          <a:prstGeom prst="rect">
            <a:avLst/>
          </a:prstGeom>
          <a:solidFill>
            <a:srgbClr val="E5D5D0"/>
          </a:solidFill>
          <a:ln w="12700">
            <a:solidFill>
              <a:srgbClr val="E5D5D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54680" y="2112264"/>
            <a:ext cx="2063931" cy="393192"/>
          </a:xfrm>
          <a:prstGeom prst="rect">
            <a:avLst/>
          </a:prstGeom>
          <a:solidFill>
            <a:srgbClr val="A44A52"/>
          </a:solidFill>
          <a:ln w="12700">
            <a:solidFill>
              <a:srgbClr val="A44A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82112" y="2560320"/>
            <a:ext cx="5212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35 s  →  20 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41248" y="31729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3154680" y="3172968"/>
            <a:ext cx="7223760" cy="393192"/>
          </a:xfrm>
          <a:prstGeom prst="rect">
            <a:avLst/>
          </a:prstGeom>
          <a:solidFill>
            <a:srgbClr val="E5D5D0"/>
          </a:solidFill>
          <a:ln w="12700">
            <a:solidFill>
              <a:srgbClr val="E5D5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54680" y="3712464"/>
            <a:ext cx="4643846" cy="393192"/>
          </a:xfrm>
          <a:prstGeom prst="rect">
            <a:avLst/>
          </a:prstGeom>
          <a:solidFill>
            <a:srgbClr val="6089A0"/>
          </a:solidFill>
          <a:ln w="12700">
            <a:solidFill>
              <a:srgbClr val="6089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82112" y="4160520"/>
            <a:ext cx="5212080" cy="35661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62626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70 s  →  45 s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777240" y="5276088"/>
            <a:ext cx="10698480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家庭疑问压缩15秒；科学实验压缩25秒，合计压缩40秒。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压缩对叙事与科普分别意味着什么？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反思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家庭疑问：35秒 → 20秒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优势：切入更快，减少铺垫。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代价：周阿姨生活经验、母女讨论与认知转变的呈现空间减少。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科学实验：70秒 → 45秒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优势：内容更集中。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代价：三项机制的解释、视觉停留与知识消化时间减少，需依靠字幕精炼信息。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AI制作的难点：哪些能解决，哪些不能？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03 / 技术反思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工具擅长的部分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从文本描述生成生活化场景。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制作肉眼不可见的微观原理示意。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帮助以较低拍摄门槛形成科普初稿。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仍需人工负责的部分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角色与道具的连续性、动作逻辑。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字幕数字及科学机制审核。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最终镜头选择、配音节奏与受众适配。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初步成果展示：视频初版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17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成果展示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1417320"/>
            <a:ext cx="10287000" cy="4416552"/>
          </a:xfrm>
          <a:prstGeom prst="roundRect">
            <a:avLst>
              <a:gd name="adj" fmla="val 1656"/>
            </a:avLst>
          </a:prstGeom>
          <a:solidFill>
            <a:srgbClr val="FBF8F7"/>
          </a:solidFill>
          <a:ln w="12700">
            <a:solidFill>
              <a:srgbClr val="C4A5A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42416" y="1545336"/>
            <a:ext cx="10030968" cy="4160520"/>
          </a:xfrm>
          <a:prstGeom prst="line">
            <a:avLst/>
          </a:prstGeom>
          <a:noFill/>
          <a:ln w="12700">
            <a:solidFill>
              <a:srgbClr val="D9C0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2176272"/>
            <a:ext cx="9829800" cy="34838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请插入你们当前初版视频或视频封面及链接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作品未公开发布，课堂展示不代表传播效果验证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26D5228F-767A-4224-8DF1-5002A5D7D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E2F47E25-AF79-4C4C-B239-8B53E0A687B5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游戏通过情境选择和反馈补充视频讲解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0DFBF069-9DA1-4C85-AA2A-54BE0C4B4B30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18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FA5DA93-0EAB-4685-A639-2E4394151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0DBB0456-5C24-4CD2-9116-C8D9988C923E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承接第一次的媒介分工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448728AF-C55F-4E09-83B9-81CB5AA70246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视频集中解释风险与处理方法，游戏把这些知识放进日常选择。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玩家依据前一次选择的结果，调整下一餐的安排。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ABB77287-6F94-4CF2-B47D-D175451FF170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70552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8447E72-D23D-4D1B-9BE0-F9E48F52F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97643E24-4D42-48E4-9E26-ED7350DC850F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剩菜处理嵌入周阿姨的日常生活安排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16256523-EAB4-4F83-95C3-F29D91BEFC52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19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A8D779F-ADF0-464C-A14D-EC2C36AD1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D02766E6-ADC8-4E77-AF21-1661B5C172A2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尊重备餐与节约需要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73F4C037-5E02-4736-9F62-FA1666AD9826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周阿姨需要安排饮食、休息与排练，备餐是可选的生活策略。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玩家需要兼顾食材、精力和当天安排，并为下一餐预先作打算。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3002A55D-E686-410A-9706-9BB9436A771A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05081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9EFB3986-9612-40AC-88F5-ED290F0D2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3295AB82-6DB4-455E-83C2-C7FC5D11F1EF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备餐选择会影响下一餐的可用食物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A6CCE71A-73BC-4F3A-84C4-F856E9AC5CBC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20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A70E520-7201-427A-BC14-7A8AB19BF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47C8376E-8C75-4CA3-85C2-28668630FA0D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选择带来可见的后果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BD928F88-EDC1-4487-B615-50488D39DF34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只做当餐、另备冷藏和留在灶台，对应不同的后续库存状态。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界面同时提示份量和保存条件，让玩家在决策时考虑下一餐。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C6AC2658-6053-411B-9B6B-A7C9B75E39E0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45719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8C3CD2-E0B3-4E71-9744-61475F560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DFB4E9E7-D298-4E54-99F4-70E4E4DC80B1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保存记录和系统限制共同提供判断依据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B464A876-ECB8-433F-8E61-5F142BF7E36E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21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27B50F0-FF52-442E-BF07-6908EEA9E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4023ECB3-8A32-4AB4-95D6-A3ADDD9B3301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说明饭菜为何不可用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32276D74-27FC-432C-A1F4-C9B03C2536F2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库存保留时间、温度等保存记录，并区分待再热与待处理。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不符合保存条件的熟食不能进入餐盘，玩家需要依据保存经历判断。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D1149DE8-8528-4365-B106-ED6DCE08E274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5228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06BE43D-D096-4473-A689-E70E0C28A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A77ABE92-887C-4495-864C-844A42323AF5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玩家根据反馈调整下一餐的安排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1913D4FE-24C8-4CF3-82C6-AC8D4540C397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22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BCAB3D7-D7B2-40E7-BDCE-560FA3D24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A38EE8FB-89C3-4E80-9954-3F5A7109C845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反馈影响后续安排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D17A4A57-17D6-431B-917F-EBBD0360E507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妥善留存的熟食可在下一餐按份取用，并在食用前彻底再热。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保存不当的饭菜应丢弃，玩家据此重新选餐或安排制作。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9145B62F-E67A-47ED-8BA4-E6847C22A812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615778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591ABD9-E016-4E65-BC99-4CB187C43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原模板标题">
            <a:extLst>
              <a:ext uri="{FF2B5EF4-FFF2-40B4-BE49-F238E27FC236}">
                <a16:creationId xmlns:a16="http://schemas.microsoft.com/office/drawing/2014/main" id="{E99F3C93-0211-4437-BBE9-BEA9988F1DBC}"/>
              </a:ext>
            </a:extLst>
          </p:cNvPr>
          <p:cNvSpPr>
            <a:spLocks noGrp="1"/>
          </p:cNvSpPr>
          <p:nvPr/>
        </p:nvSpPr>
        <p:spPr>
          <a:xfrm>
            <a:off x="658368" y="347472"/>
            <a:ext cx="10477500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32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3200" b="1">
                <a:solidFill>
                  <a:srgbClr val="981F2B"/>
                </a:solidFill>
                <a:latin typeface="微软雅黑"/>
                <a:ea typeface="微软雅黑"/>
              </a:rPr>
              <a:t>保存时间变化后，玩家需要重新判断</a:t>
            </a:r>
          </a:p>
        </p:txBody>
      </p:sp>
      <p:sp>
        <p:nvSpPr>
          <p:cNvPr id="3" name="页码">
            <a:extLst>
              <a:ext uri="{FF2B5EF4-FFF2-40B4-BE49-F238E27FC236}">
                <a16:creationId xmlns:a16="http://schemas.microsoft.com/office/drawing/2014/main" id="{2CA9F4BB-4B11-410C-8C78-80125253647A}"/>
              </a:ext>
            </a:extLst>
          </p:cNvPr>
          <p:cNvSpPr>
            <a:spLocks noGrp="1"/>
          </p:cNvSpPr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981F2B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981F2B"/>
                </a:solidFill>
                <a:latin typeface="Times New Roman"/>
                <a:ea typeface="微软雅黑"/>
              </a:rPr>
              <a:t>23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12441F-6105-41AE-A709-6C854B806B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1485900"/>
            <a:ext cx="8096250" cy="4554141"/>
          </a:xfrm>
          <a:prstGeom prst="rect">
            <a:avLst/>
          </a:prstGeom>
        </p:spPr>
      </p:pic>
      <p:sp>
        <p:nvSpPr>
          <p:cNvPr id="5" name="重点说明">
            <a:extLst>
              <a:ext uri="{FF2B5EF4-FFF2-40B4-BE49-F238E27FC236}">
                <a16:creationId xmlns:a16="http://schemas.microsoft.com/office/drawing/2014/main" id="{CF096159-E5BF-4FB5-A27F-7D1B556102E5}"/>
              </a:ext>
            </a:extLst>
          </p:cNvPr>
          <p:cNvSpPr>
            <a:spLocks noGrp="1"/>
          </p:cNvSpPr>
          <p:nvPr/>
        </p:nvSpPr>
        <p:spPr>
          <a:xfrm>
            <a:off x="9067800" y="1600200"/>
            <a:ext cx="2714625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defPPr>
            <a:lvl1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1pPr>
            <a:lvl2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2pPr>
            <a:lvl3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3pPr>
            <a:lvl4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4pPr>
            <a:lvl5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5pPr>
            <a:lvl6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6pPr>
            <a:lvl7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7pPr>
            <a:lvl8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8pPr>
            <a:lvl9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lvl9pPr>
          </a:lstStyle>
          <a:p>
            <a:pPr>
              <a:defRPr sz="2000" b="1">
                <a:solidFill>
                  <a:srgbClr val="981F2B"/>
                </a:solidFill>
                <a:latin typeface="微软雅黑"/>
                <a:ea typeface="微软雅黑"/>
              </a:defRPr>
            </a:pPr>
            <a:r>
              <a:rPr sz="2000" b="1">
                <a:solidFill>
                  <a:srgbClr val="981F2B"/>
                </a:solidFill>
                <a:latin typeface="微软雅黑"/>
                <a:ea typeface="微软雅黑"/>
              </a:rPr>
              <a:t>保存状态随日期更新</a:t>
            </a:r>
          </a:p>
        </p:txBody>
      </p:sp>
      <p:sp>
        <p:nvSpPr>
          <p:cNvPr id="6" name="讲解摘要">
            <a:extLst>
              <a:ext uri="{FF2B5EF4-FFF2-40B4-BE49-F238E27FC236}">
                <a16:creationId xmlns:a16="http://schemas.microsoft.com/office/drawing/2014/main" id="{751E2D43-0C08-4B3E-ACA2-C092AF87C32D}"/>
              </a:ext>
            </a:extLst>
          </p:cNvPr>
          <p:cNvSpPr>
            <a:spLocks noGrp="1"/>
          </p:cNvSpPr>
          <p:nvPr/>
        </p:nvSpPr>
        <p:spPr>
          <a:xfrm>
            <a:off x="9067800" y="2952750"/>
            <a:ext cx="2714625" cy="2952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defPPr>
            <a:lvl1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1pPr>
            <a:lvl2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2pPr>
            <a:lvl3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3pPr>
            <a:lvl4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4pPr>
            <a:lvl5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5pPr>
            <a:lvl6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6pPr>
            <a:lvl7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7pPr>
            <a:lvl8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8pPr>
            <a:lvl9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lvl9pPr>
          </a:lstStyle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熟食的可用状态会随保存时间变化，冷藏后仍需持续查看。</a:t>
            </a: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endParaRPr lang="zh-CN" altLang="en-US" sz="1800" b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defRPr sz="1800" b="0">
                <a:solidFill>
                  <a:srgbClr val="333333"/>
                </a:solidFill>
                <a:latin typeface="微软雅黑"/>
                <a:ea typeface="微软雅黑"/>
              </a:defRPr>
            </a:pPr>
            <a:r>
              <a:rPr lang="zh-CN" altLang="en-US" sz="1800" b="0">
                <a:solidFill>
                  <a:srgbClr val="333333"/>
                </a:solidFill>
                <a:latin typeface="微软雅黑"/>
                <a:ea typeface="微软雅黑"/>
              </a:rPr>
              <a:t>玩家查看更新后的记录，再决定取用还是丢弃，并调整后续用餐。</a:t>
            </a:r>
            <a:endParaRPr sz="1800" b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7" name="原模板页脚">
            <a:extLst>
              <a:ext uri="{FF2B5EF4-FFF2-40B4-BE49-F238E27FC236}">
                <a16:creationId xmlns:a16="http://schemas.microsoft.com/office/drawing/2014/main" id="{08748E27-B6CD-440D-9E57-B2CFA77B9F59}"/>
              </a:ext>
            </a:extLst>
          </p:cNvPr>
          <p:cNvSpPr>
            <a:spLocks noGrp="1"/>
          </p:cNvSpPr>
          <p:nvPr/>
        </p:nvSpPr>
        <p:spPr>
          <a:xfrm>
            <a:off x="685800" y="6510528"/>
            <a:ext cx="762000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defPPr>
            <a:lvl1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1pPr>
            <a:lvl2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2pPr>
            <a:lvl3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3pPr>
            <a:lvl4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4pPr>
            <a:lvl5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5pPr>
            <a:lvl6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6pPr>
            <a:lvl7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7pPr>
            <a:lvl8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8pPr>
            <a:lvl9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lvl9pPr>
          </a:lstStyle>
          <a:p>
            <a:pPr>
              <a:defRPr sz="1600" b="0">
                <a:solidFill>
                  <a:srgbClr val="A39292"/>
                </a:solidFill>
                <a:latin typeface="Times New Roman"/>
                <a:ea typeface="微软雅黑"/>
              </a:defRPr>
            </a:pPr>
            <a:r>
              <a:rPr sz="1600" b="0">
                <a:solidFill>
                  <a:srgbClr val="A39292"/>
                </a:solidFill>
                <a:latin typeface="Times New Roman"/>
                <a:ea typeface="微软雅黑"/>
              </a:rPr>
              <a:t>04 / 游戏设计的阶段性落实</a:t>
            </a:r>
          </a:p>
        </p:txBody>
      </p:sp>
      <p:sp>
        <p:nvSpPr>
          <p:cNvPr id="10001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002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81149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目前优势与问题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现状分析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70408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70408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90525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目前可确认的设计成果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90525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视频形成家庭疑问、机制解释和处理行动的叙事。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游戏实现情境选择、保存记录与后续处置反馈。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围绕同一主题，分别提供解释和操作机会。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6236208" y="1380744"/>
            <a:ext cx="5212080" cy="4224528"/>
          </a:xfrm>
          <a:prstGeom prst="roundRect">
            <a:avLst>
              <a:gd name="adj" fmla="val 2165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6236208" y="1380744"/>
            <a:ext cx="68580" cy="4224528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6437376" y="1508760"/>
            <a:ext cx="482803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目前仍待解决的不足</a:t>
            </a: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6437376" y="2011680"/>
            <a:ext cx="4791456" cy="34472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视频部分片段被压缩，科普节奏需再次检查。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游戏仍需复核提示、数值与反馈说明的准确性。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尚未取得真实受众的理解、操作与迁移评价。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下一步如何改进：先保证准确，再谈效果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25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04 / 后续计划</a:t>
            </a:r>
            <a:endParaRPr lang="en-US" sz="1600" dirty="0"/>
          </a:p>
        </p:txBody>
      </p:sp>
      <p:sp>
        <p:nvSpPr>
          <p:cNvPr id="8" name="Shape 5"/>
          <p:cNvSpPr/>
          <p:nvPr>
            <p:custDataLst>
              <p:tags r:id="rId1"/>
            </p:custDataLst>
          </p:nvPr>
        </p:nvSpPr>
        <p:spPr>
          <a:xfrm>
            <a:off x="6400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9" name="Shape 6"/>
          <p:cNvSpPr/>
          <p:nvPr>
            <p:custDataLst>
              <p:tags r:id="rId2"/>
            </p:custDataLst>
          </p:nvPr>
        </p:nvSpPr>
        <p:spPr>
          <a:xfrm>
            <a:off x="6400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0" name="Text 7"/>
          <p:cNvSpPr/>
          <p:nvPr>
            <p:custDataLst>
              <p:tags r:id="rId3"/>
            </p:custDataLst>
          </p:nvPr>
        </p:nvSpPr>
        <p:spPr>
          <a:xfrm>
            <a:off x="8412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内容复核</a:t>
            </a:r>
          </a:p>
        </p:txBody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8412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逐项核对室温放置、冷藏、复热与丢弃条件。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检查“原理示意”标识与科学边界。</a:t>
            </a:r>
            <a:endParaRPr lang="en-US" sz="2000" dirty="0"/>
          </a:p>
        </p:txBody>
      </p:sp>
      <p:sp>
        <p:nvSpPr>
          <p:cNvPr id="12" name="Shape 9"/>
          <p:cNvSpPr/>
          <p:nvPr>
            <p:custDataLst>
              <p:tags r:id="rId5"/>
            </p:custDataLst>
          </p:nvPr>
        </p:nvSpPr>
        <p:spPr>
          <a:xfrm>
            <a:off x="45262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3" name="Shape 10"/>
          <p:cNvSpPr/>
          <p:nvPr>
            <p:custDataLst>
              <p:tags r:id="rId6"/>
            </p:custDataLst>
          </p:nvPr>
        </p:nvSpPr>
        <p:spPr>
          <a:xfrm>
            <a:off x="45262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47274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2400" b="1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呈现优化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47274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检查视频节奏与游戏提示的可读性。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调整对白、字幕及选择后的反馈说明。</a:t>
            </a:r>
            <a:endParaRPr lang="en-US" sz="2000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8412480" y="1517904"/>
            <a:ext cx="3657600" cy="400507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DEDB"/>
            </a:solidFill>
            <a:prstDash val="solid"/>
          </a:ln>
        </p:spPr>
      </p:sp>
      <p:sp>
        <p:nvSpPr>
          <p:cNvPr id="17" name="Shape 14"/>
          <p:cNvSpPr/>
          <p:nvPr>
            <p:custDataLst>
              <p:tags r:id="rId10"/>
            </p:custDataLst>
          </p:nvPr>
        </p:nvSpPr>
        <p:spPr>
          <a:xfrm>
            <a:off x="8412480" y="1517904"/>
            <a:ext cx="68580" cy="400507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8613648" y="1645920"/>
            <a:ext cx="327355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zh-CN" altLang="en-US" sz="2400" b="1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受众试用</a:t>
            </a:r>
            <a:endParaRPr lang="en-US" sz="2400" b="1" dirty="0">
              <a:solidFill>
                <a:srgbClr val="981F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8613648" y="2148840"/>
            <a:ext cx="3236976" cy="32278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邀请目标受众试看视频、试用游戏。</a:t>
            </a:r>
          </a:p>
          <a:p>
            <a:pPr marL="0" indent="0" algn="l">
              <a:buNone/>
            </a:pPr>
            <a:endParaRPr lang="zh-CN" altLang="en-US" sz="20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zh-CN" altLang="en-US" sz="200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观察保存判断与操作选择，并据此调整材料。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思考提纲</a:t>
            </a: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26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 / 思考提纲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74725" y="1323340"/>
            <a:ext cx="10326370" cy="4092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三</a:t>
            </a:r>
            <a:r>
              <a:rPr 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、</a:t>
            </a: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形式设计与传播适配思考</a:t>
            </a:r>
          </a:p>
          <a:p>
            <a:pPr marL="0" indent="0" algn="l">
              <a:buNone/>
            </a:pPr>
            <a:br>
              <a:rPr 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1.选择的传播载体是什么？（海报/公众号/短视频/折页等）选择该载体的理由是什么？对新媒体的评价怎样？</a:t>
            </a:r>
            <a:br>
              <a:rPr lang="en-US" sz="16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剧情科普视频承担线性的信息传递：家庭疑问→机制解释→处置行动。配套游戏承担情境选择与反馈，视频不替代游戏功能。</a:t>
            </a:r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2.在视觉、排版、结构、时长等形式设计上，如何贴合受众阅读/观看习惯？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家庭部分写实、实验室部分可视化；使用短句、清楚字幕和单镜头主要动作。原设160秒；实际制作受额度影响，部分片段压缩，仍需检验观看节奏。</a:t>
            </a:r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3.设计过程中，是否遇到“美观和实用冲突”“创意和科学冲突”的问题？具体如何取舍？</a:t>
            </a:r>
          </a:p>
          <a:p>
            <a:pPr marL="0" indent="0" algn="l">
              <a:buNone/>
            </a:pPr>
            <a:r>
              <a:rPr lang="zh-CN" altLang="en-US" sz="1600" dirty="0"/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不制造责备性代际争吵；不把微生物动画当真实证据。不让室温放了一夜的饭菜加热后被继续食用。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4.目前材料在传播性、吸引力上有哪些优势和不足？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优势：家庭场景与微观机制解释相结合，提供具体保存步骤。不足：家庭20秒、三项实验各15秒；科学解释节奏更紧凑，尚无受众评价。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思考提纲</a:t>
            </a:r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27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05 / 思考提纲</a:t>
            </a:r>
            <a:endParaRPr lang="en-US" sz="1600" dirty="0"/>
          </a:p>
        </p:txBody>
      </p:sp>
      <p:sp>
        <p:nvSpPr>
          <p:cNvPr id="17" name="文本框 16"/>
          <p:cNvSpPr txBox="1"/>
          <p:nvPr/>
        </p:nvSpPr>
        <p:spPr>
          <a:xfrm>
            <a:off x="974725" y="1323340"/>
            <a:ext cx="1032637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四、迭代修改与问题反思</a:t>
            </a:r>
          </a:p>
          <a:p>
            <a:pPr marL="0" indent="0" algn="l">
              <a:buNone/>
            </a:pPr>
            <a:br>
              <a:rPr 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1.从初稿到定稿，修改了哪些内容？（知识点、排版、语言、结构、受众适配性等）</a:t>
            </a:r>
            <a:br>
              <a:rPr lang="en-US" sz="16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</a:b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答：剧本阶段修改矛盾点，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原160秒设计含家庭35秒、实验室70秒。由于制作资源限制，家庭疑问实际压缩至20秒，科学实验调整为每项15秒、合计45秒。</a:t>
            </a:r>
            <a:endParaRPr lang="en-US" sz="1600" dirty="0"/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2.修改的原因是什么？（自我发现问题/带教老师指导/同学互评反馈）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剧本阶段基于科普完整性和科学逻辑进行调整。视频制作阶段则受到即梦额度及会员限制，需优先保留能够传递主要知识的镜头。</a:t>
            </a:r>
            <a:endParaRPr lang="en-US" sz="1600" dirty="0"/>
          </a:p>
          <a:p>
            <a:pPr marL="0" indent="0" algn="l">
              <a:buNone/>
            </a:pPr>
            <a:endParaRPr lang="en-US" sz="160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marL="0" indent="0" algn="l">
              <a:buNone/>
            </a:pPr>
            <a:r>
              <a:rPr lang="zh-CN" altLang="en-US" sz="16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3.本次创作中，出现过误区吗，是什么？（例如：重形式轻内容、自嗨式创作、忽略受众、理论脱离实践等）</a:t>
            </a:r>
          </a:p>
          <a:p>
            <a:pPr marL="0" indent="0" algn="l"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重视觉轻科学；以年轻人偏好的表现替代受众适配；把AI成片等同传播成功。因此坚持先确定信息、再决定画面，并保留审核环节。</a:t>
            </a:r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4.整个制作过程中，最难解决的问题是什么？最终的解决方式与效果如何？</a:t>
            </a:r>
          </a:p>
          <a:p>
            <a:pPr marL="0" indent="0" algn="l">
              <a:buNone/>
            </a:pPr>
            <a:r>
              <a:rPr lang="zh-CN" alt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答：</a:t>
            </a:r>
            <a:r>
              <a:rPr lang="en-US" sz="1600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有限额度与时长下，如何保留剧情、科普解释和正确动作？通过压缩开场、将实验改为每项15秒实现初稿；效果仍需后续试看核对。</a:t>
            </a:r>
            <a:endParaRPr lang="en-US" sz="1600" dirty="0"/>
          </a:p>
          <a:p>
            <a:pPr marL="0" indent="0" algn="l">
              <a:buNone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ku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347472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致谢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67512" y="996696"/>
            <a:ext cx="1920240" cy="50292"/>
          </a:xfrm>
          <a:prstGeom prst="rect">
            <a:avLst/>
          </a:prstGeom>
          <a:solidFill>
            <a:srgbClr val="981F2B"/>
          </a:solidFill>
          <a:ln w="12700">
            <a:solidFill>
              <a:srgbClr val="981F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37392" y="347472"/>
            <a:ext cx="475488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981F2B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28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6510528"/>
            <a:ext cx="822960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A39292"/>
                </a:solidFill>
                <a:latin typeface="Times New Roman" panose="02020603050405020304" pitchFamily="34" charset="0"/>
                <a:ea typeface="Times New Roman" panose="02020603050405020304" pitchFamily="34" charset="-122"/>
                <a:cs typeface="Times New Roman" panose="02020603050405020304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1985" y="2780665"/>
            <a:ext cx="10652760" cy="6583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感谢老师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同学</a:t>
            </a:r>
            <a:r>
              <a:rPr 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批评与指导</a:t>
            </a:r>
            <a:r>
              <a:rPr lang="zh-CN" altLang="en-US" sz="3200" b="1" dirty="0">
                <a:solidFill>
                  <a:srgbClr val="981F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！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622969" y="5494929"/>
            <a:ext cx="9216572" cy="6502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汇报小组：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3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大组第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小组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					    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时间：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2026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年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10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月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27</a:t>
            </a: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日</a:t>
            </a:r>
          </a:p>
          <a:p>
            <a:pPr algn="l">
              <a:lnSpc>
                <a:spcPct val="130000"/>
              </a:lnSpc>
            </a:pPr>
            <a:r>
              <a:rPr lang="zh-CN" altLang="en-US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组员：</a:t>
            </a:r>
            <a:r>
              <a:rPr lang="en-US" sz="1400" b="1" dirty="0">
                <a:solidFill>
                  <a:srgbClr val="26262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王歆尧  田伦荣益  李文鹏  李嘉辉</a:t>
            </a:r>
            <a:r>
              <a:rPr lang="en-US" altLang="zh-CN" sz="1400" b="1" spc="1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			</a:t>
            </a:r>
            <a:endParaRPr lang="zh-CN" altLang="en-US" sz="1400" b="1" spc="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.19999999999993,&quot;left&quot;:54,&quot;top&quot;:109.44000000000001,&quot;width&quot;:849.6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17.44,&quot;left&quot;:45.36,&quot;top&quot;:118.8,&quot;width&quot;:905.7599999999999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5.84000000000003,&quot;left&quot;:-34.15999999999999,&quot;top&quot;:108.72,&quot;width&quot;:935.6}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2.64000000000004,&quot;left&quot;:55.44,&quot;top&quot;:108.72,&quot;width&quot;:846}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15.36,&quot;left&quot;:50.4,&quot;top&quot;:119.52000000000001,&quot;width&quot;:90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1924</Words>
  <Application>Microsoft Office PowerPoint</Application>
  <PresentationFormat>宽屏</PresentationFormat>
  <Paragraphs>335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3" baseType="lpstr">
      <vt:lpstr>微软雅黑</vt:lpstr>
      <vt:lpstr>微软雅黑</vt:lpstr>
      <vt:lpstr>Arial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隔夜食验室 第二次汇报</dc:title>
  <dc:subject>公共卫生传播学第二次汇报</dc:subject>
  <dc:creator>OpenAI</dc:creator>
  <cp:lastModifiedBy>歆尧 王</cp:lastModifiedBy>
  <cp:revision>3</cp:revision>
  <dcterms:created xsi:type="dcterms:W3CDTF">2026-10-26T14:06:00Z</dcterms:created>
  <dcterms:modified xsi:type="dcterms:W3CDTF">2026-10-27T02:01:30Z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1A59AB9D84104BCCA4F70A7C1C57907A_12</vt:lpwstr>
  </property>
</Properties>
</file>